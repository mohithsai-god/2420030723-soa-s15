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4"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54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561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dirty="0"/>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IN"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4052589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simple words: modern applications run on many services, so one failure creates many alerts at once. Engineers get confused because the same root cause appears as several unrelated-looking problems, which delays diagnosis and increases downtime. Use the CPU/pod-crash/DB-error example to show one root cause hiding behind three symptoms. Close by stating the need for grouping, root-cause detection, and fast fixes.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tools like PagerDuty, Opsgenie, and ServiceNow are widely used for alert management, notifications, and incident tracking. Point out their real limitations: complex setup, high cost, mostly reactive (they act after the problem occurs), limited automatic fixing, and too much alert noise. Then draw a direct line to our project: where they manage alerts, we reduce them through correlation; where they notify, we auto-assign; where they track, we go further with suggested and automatic fixes.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solution simply and practically. Predictive alerting warns engineers before a real failure happens by watching metric trends. Alert correlation combines related alerts into a single incident instead of many. Root-cause suggestion points to the likely reason for the failure. Auto-remediation takes safe actions like restarting a pod or scaling replicas automatically. Suggested commands give the engineer the exact command to run. Auto postmortem writes up a report automatically once the incident is resolved, saving time and preserving knowledge.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motivation: distributed systems are hard to manage, and engineers currently waste time repeating the same manual diagnostic steps for every incident. This project speeds up incident handling, reduces downtime, and is also a strong opportunity to learn real-world DevOps concepts. The measurable impact is faster recovery, better overall system reliability, and less manual work for the on-call engineer.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core features: incident creation, auto assignment, alert correlation, smart suggestions, auto fixing, and a dashboard for visibility. Then list the technologies powering them: Kubernetes for orchestration, Prometheus for metrics, Node.js or Python for the backend, React for the frontend, MongoDB for storage, and Docker for packaging. Together, these tools let the system monitor, analyze, and fix issues efficiently.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diagram 1 first: monitoring detects a problem, raises an alert, which the backend and Incident Manager process; the Incident Manager notifies the engineer and, separately, can call the Kubernetes API directly to fix issues like restarting a pod. Then narrate diagram 2: an incident moves from observation through alerting, correlation, creation, assignment, fixing, and resolution. Point out that auto-remediation can step in between these stages automatically whenever it is enabled, without waiting for every step to be manual.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07809C3A-1739-D230-186B-84454F605084}"/>
              </a:ext>
            </a:extLst>
          </p:cNvPr>
          <p:cNvSpPr>
            <a:spLocks noGrp="1"/>
          </p:cNvSpPr>
          <p:nvPr>
            <p:ph type="dt" sz="half" idx="10"/>
          </p:nvPr>
        </p:nvSpPr>
        <p:spPr/>
        <p:txBody>
          <a:bodyPr/>
          <a:lstStyle/>
          <a:p>
            <a:fld id="{E227863A-4956-4659-9192-3D74DA4F7578}" type="datetimeFigureOut">
              <a:rPr lang="en-US" smtClean="0"/>
              <a:t>10/1/2026</a:t>
            </a:fld>
            <a:endParaRPr lang="en-US" dirty="0"/>
          </a:p>
        </p:txBody>
      </p:sp>
      <p:sp>
        <p:nvSpPr>
          <p:cNvPr id="5" name="Footer Placeholder 4">
            <a:extLst>
              <a:ext uri="{FF2B5EF4-FFF2-40B4-BE49-F238E27FC236}">
                <a16:creationId xmlns:a16="http://schemas.microsoft.com/office/drawing/2014/main" xmlns="" id="{F5A63778-C058-1235-D3A3-7BCFF3CD01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7111995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2.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14.png"/><Relationship Id="rId12"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5.png"/><Relationship Id="rId5" Type="http://schemas.openxmlformats.org/officeDocument/2006/relationships/image" Target="../media/image6.png"/><Relationship Id="rId10" Type="http://schemas.openxmlformats.org/officeDocument/2006/relationships/image" Target="../media/image7.png"/><Relationship Id="rId4" Type="http://schemas.openxmlformats.org/officeDocument/2006/relationships/image" Target="../media/image21.png"/><Relationship Id="rId9" Type="http://schemas.openxmlformats.org/officeDocument/2006/relationships/image" Target="../media/image3.png"/><Relationship Id="rId1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 xmlns:a16="http://schemas.microsoft.com/office/drawing/2014/main" id="{BD22BC4D-4857-7D81-7819-37B7BB426420}"/>
              </a:ext>
            </a:extLst>
          </p:cNvPr>
          <p:cNvGraphicFramePr>
            <a:graphicFrameLocks noGrp="1"/>
          </p:cNvGraphicFramePr>
          <p:nvPr>
            <p:extLst/>
          </p:nvPr>
        </p:nvGraphicFramePr>
        <p:xfrm>
          <a:off x="8193271" y="4898509"/>
          <a:ext cx="3702050" cy="1219200"/>
        </p:xfrm>
        <a:graphic>
          <a:graphicData uri="http://schemas.openxmlformats.org/drawingml/2006/table">
            <a:tbl>
              <a:tblPr firstRow="1" bandRow="1">
                <a:tableStyleId>{5940675A-B579-460E-94D1-54222C63F5DA}</a:tableStyleId>
              </a:tblPr>
              <a:tblGrid>
                <a:gridCol w="3702050">
                  <a:extLst>
                    <a:ext uri="{9D8B030D-6E8A-4147-A177-3AD203B41FA5}">
                      <a16:colId xmlns=""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kern="1200" dirty="0" smtClean="0">
                          <a:solidFill>
                            <a:schemeClr val="dk1"/>
                          </a:solidFill>
                          <a:latin typeface="Times New Roman" panose="02020603050405020304" pitchFamily="18" charset="0"/>
                          <a:ea typeface="Cambria"/>
                          <a:cs typeface="Times New Roman" panose="02020603050405020304" pitchFamily="18" charset="0"/>
                        </a:rPr>
                        <a:t>Name                     </a:t>
                      </a:r>
                      <a:r>
                        <a:rPr lang="en-IN" sz="1400" b="1" kern="1200" dirty="0" smtClean="0">
                          <a:solidFill>
                            <a:schemeClr val="dk1"/>
                          </a:solidFill>
                          <a:latin typeface="Times New Roman" panose="02020603050405020304" pitchFamily="18" charset="0"/>
                          <a:ea typeface="Cambria"/>
                          <a:cs typeface="Times New Roman" panose="02020603050405020304" pitchFamily="18" charset="0"/>
                        </a:rPr>
                        <a:t>Roll Number</a:t>
                      </a:r>
                    </a:p>
                    <a:p>
                      <a:pPr marL="0" algn="l" defTabSz="914400" rtl="0" eaLnBrk="1" latinLnBrk="0" hangingPunct="1"/>
                      <a:r>
                        <a:rPr lang="en-IN" sz="1400" b="1" kern="1200" dirty="0" smtClean="0">
                          <a:solidFill>
                            <a:schemeClr val="dk1"/>
                          </a:solidFill>
                          <a:latin typeface="Times New Roman" panose="02020603050405020304" pitchFamily="18" charset="0"/>
                          <a:ea typeface="Cambria"/>
                          <a:cs typeface="Times New Roman" panose="02020603050405020304" pitchFamily="18" charset="0"/>
                        </a:rPr>
                        <a:t>P.Sri</a:t>
                      </a:r>
                      <a:r>
                        <a:rPr lang="en-IN" sz="1400" b="1" kern="1200" baseline="0" dirty="0" smtClean="0">
                          <a:solidFill>
                            <a:schemeClr val="dk1"/>
                          </a:solidFill>
                          <a:latin typeface="Times New Roman" panose="02020603050405020304" pitchFamily="18" charset="0"/>
                          <a:ea typeface="Cambria"/>
                          <a:cs typeface="Times New Roman" panose="02020603050405020304" pitchFamily="18" charset="0"/>
                        </a:rPr>
                        <a:t> Ram                  2420030715</a:t>
                      </a:r>
                    </a:p>
                    <a:p>
                      <a:pPr marL="0" algn="l" defTabSz="914400" rtl="0" eaLnBrk="1" latinLnBrk="0" hangingPunct="1"/>
                      <a:r>
                        <a:rPr lang="en-IN" sz="1400" b="1" kern="1200" baseline="0" dirty="0" smtClean="0">
                          <a:solidFill>
                            <a:schemeClr val="dk1"/>
                          </a:solidFill>
                          <a:latin typeface="Times New Roman" panose="02020603050405020304" pitchFamily="18" charset="0"/>
                          <a:ea typeface="Cambria"/>
                          <a:cs typeface="Times New Roman" panose="02020603050405020304" pitchFamily="18" charset="0"/>
                        </a:rPr>
                        <a:t>K.Bhargav                 2420030754</a:t>
                      </a:r>
                    </a:p>
                    <a:p>
                      <a:pPr marL="0" algn="l" defTabSz="914400" rtl="0" eaLnBrk="1" latinLnBrk="0" hangingPunct="1"/>
                      <a:r>
                        <a:rPr lang="en-IN" sz="1400" b="1" kern="1200" baseline="0" dirty="0" smtClean="0">
                          <a:solidFill>
                            <a:schemeClr val="dk1"/>
                          </a:solidFill>
                          <a:latin typeface="Times New Roman" panose="02020603050405020304" pitchFamily="18" charset="0"/>
                          <a:ea typeface="Cambria"/>
                          <a:cs typeface="Times New Roman" panose="02020603050405020304" pitchFamily="18" charset="0"/>
                        </a:rPr>
                        <a:t>T.Mohith sai              2420030723</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4108782725"/>
                  </a:ext>
                </a:extLst>
              </a:tr>
            </a:tbl>
          </a:graphicData>
        </a:graphic>
      </p:graphicFrame>
      <p:grpSp>
        <p:nvGrpSpPr>
          <p:cNvPr id="21" name="Group 20">
            <a:extLst>
              <a:ext uri="{FF2B5EF4-FFF2-40B4-BE49-F238E27FC236}">
                <a16:creationId xmlns=""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 xmlns:a16="http://schemas.microsoft.com/office/drawing/2014/main" id="{9091FADF-77DB-CB1D-CD72-56C53CF76308}"/>
              </a:ext>
            </a:extLst>
          </p:cNvPr>
          <p:cNvGraphicFramePr>
            <a:graphicFrameLocks noGrp="1"/>
          </p:cNvGraphicFramePr>
          <p:nvPr>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 xmlns:a16="http://schemas.microsoft.com/office/drawing/2014/main" val="40058472"/>
                    </a:ext>
                  </a:extLst>
                </a:gridCol>
                <a:gridCol w="4528760">
                  <a:extLst>
                    <a:ext uri="{9D8B030D-6E8A-4147-A177-3AD203B41FA5}">
                      <a16:colId xmlns=""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smtClean="0">
                          <a:solidFill>
                            <a:schemeClr val="dk1"/>
                          </a:solidFill>
                          <a:latin typeface="Times New Roman" panose="02020603050405020304" pitchFamily="18" charset="0"/>
                          <a:ea typeface="Cambria"/>
                          <a:cs typeface="Times New Roman" panose="02020603050405020304" pitchFamily="18" charset="0"/>
                          <a:sym typeface="Cambria"/>
                        </a:rPr>
                        <a:t>Dr.Mahesh</a:t>
                      </a:r>
                      <a:r>
                        <a:rPr lang="en-US" sz="1400" b="1" baseline="0" dirty="0" smtClean="0">
                          <a:solidFill>
                            <a:schemeClr val="dk1"/>
                          </a:solidFill>
                          <a:latin typeface="Times New Roman" panose="02020603050405020304" pitchFamily="18" charset="0"/>
                          <a:ea typeface="Cambria"/>
                          <a:cs typeface="Times New Roman" panose="02020603050405020304" pitchFamily="18" charset="0"/>
                          <a:sym typeface="Cambria"/>
                        </a:rPr>
                        <a:t> Kumar</a:t>
                      </a:r>
                      <a:r>
                        <a:rPr lang="en-US" sz="1400" dirty="0" smtClean="0">
                          <a:solidFill>
                            <a:schemeClr val="dk1"/>
                          </a:solidFill>
                          <a:latin typeface="Times New Roman" panose="02020603050405020304" pitchFamily="18" charset="0"/>
                          <a:ea typeface="Cambria"/>
                          <a:cs typeface="Times New Roman" panose="02020603050405020304" pitchFamily="18" charset="0"/>
                          <a:sym typeface="Cambria"/>
                        </a:rPr>
                        <a:t> </a:t>
                      </a: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4108782725"/>
                  </a:ext>
                </a:extLst>
              </a:tr>
            </a:tbl>
          </a:graphicData>
        </a:graphic>
      </p:graphicFrame>
      <p:grpSp>
        <p:nvGrpSpPr>
          <p:cNvPr id="31" name="Group 30">
            <a:extLst>
              <a:ext uri="{FF2B5EF4-FFF2-40B4-BE49-F238E27FC236}">
                <a16:creationId xmlns=""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 xmlns:a16="http://schemas.microsoft.com/office/drawing/2014/main" id="{C1554CCE-4DF8-89E6-E0F6-3C2A1439C7FA}"/>
              </a:ext>
            </a:extLst>
          </p:cNvPr>
          <p:cNvSpPr>
            <a:spLocks noGrp="1"/>
          </p:cNvSpPr>
          <p:nvPr>
            <p:ph type="dt" sz="half" idx="10"/>
          </p:nvPr>
        </p:nvSpPr>
        <p:spPr/>
        <p:txBody>
          <a:bodyPr/>
          <a:lstStyle/>
          <a:p>
            <a:endParaRPr lang="en-IN" b="1" dirty="0"/>
          </a:p>
        </p:txBody>
      </p:sp>
      <p:sp>
        <p:nvSpPr>
          <p:cNvPr id="36" name="Slide Number Placeholder 35">
            <a:extLst>
              <a:ext uri="{FF2B5EF4-FFF2-40B4-BE49-F238E27FC236}">
                <a16:creationId xmlns=""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 xmlns:a16="http://schemas.microsoft.com/office/drawing/2014/main" id="{4EE5F681-D3B5-BC4B-8AA4-5688DCEEFB44}"/>
              </a:ext>
            </a:extLst>
          </p:cNvPr>
          <p:cNvSpPr/>
          <p:nvPr/>
        </p:nvSpPr>
        <p:spPr>
          <a:xfrm>
            <a:off x="660516" y="680970"/>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 xmlns:a16="http://schemas.microsoft.com/office/drawing/2014/main" id="{DD4CF64F-3FB6-0CE4-B778-63C5D5A1D343}"/>
              </a:ext>
            </a:extLst>
          </p:cNvPr>
          <p:cNvSpPr txBox="1"/>
          <p:nvPr/>
        </p:nvSpPr>
        <p:spPr>
          <a:xfrm>
            <a:off x="838200" y="3730065"/>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Project Title</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 xmlns:a16="http://schemas.microsoft.com/office/drawing/2014/main" id="{D25BC1A0-FDE4-1557-375E-6E0BD69BC77B}"/>
              </a:ext>
            </a:extLst>
          </p:cNvPr>
          <p:cNvSpPr txBox="1"/>
          <p:nvPr/>
        </p:nvSpPr>
        <p:spPr>
          <a:xfrm>
            <a:off x="385367" y="949609"/>
            <a:ext cx="10715625" cy="584775"/>
          </a:xfrm>
          <a:prstGeom prst="rect">
            <a:avLst/>
          </a:prstGeom>
          <a:noFill/>
        </p:spPr>
        <p:txBody>
          <a:bodyPr wrap="square">
            <a:spAutoFit/>
          </a:bodyPr>
          <a:lstStyle/>
          <a:p>
            <a:pPr lvl="0" algn="ctr">
              <a:defRPr/>
            </a:pPr>
            <a:r>
              <a:rPr sz="2800" b="1" dirty="0"/>
              <a:t>DevOps Incident Management System</a:t>
            </a:r>
          </a:p>
        </p:txBody>
      </p:sp>
      <p:sp>
        <p:nvSpPr>
          <p:cNvPr id="19" name="Footer Placeholder 34">
            <a:extLst>
              <a:ext uri="{FF2B5EF4-FFF2-40B4-BE49-F238E27FC236}">
                <a16:creationId xmlns="" xmlns:a16="http://schemas.microsoft.com/office/drawing/2014/main" id="{8FB49AA0-2464-6225-6B6C-063F9A6ECD20}"/>
              </a:ext>
            </a:extLst>
          </p:cNvPr>
          <p:cNvSpPr>
            <a:spLocks noGrp="1"/>
          </p:cNvSpPr>
          <p:nvPr>
            <p:ph type="ftr" sz="quarter" idx="11"/>
          </p:nvPr>
        </p:nvSpPr>
        <p:spPr/>
        <p:txBody>
          <a:bodyPr/>
          <a:lstStyle/>
          <a:p>
            <a:endParaRPr lang="en-IN" b="1" dirty="0"/>
          </a:p>
        </p:txBody>
      </p:sp>
      <p:sp>
        <p:nvSpPr>
          <p:cNvPr id="20" name="TextBox 19"/>
          <p:cNvSpPr txBox="1"/>
          <p:nvPr/>
        </p:nvSpPr>
        <p:spPr>
          <a:xfrm>
            <a:off x="1448938" y="2327226"/>
            <a:ext cx="9393382" cy="707886"/>
          </a:xfrm>
          <a:prstGeom prst="rect">
            <a:avLst/>
          </a:prstGeom>
          <a:noFill/>
        </p:spPr>
        <p:txBody>
          <a:bodyPr wrap="square" anchor="t">
            <a:spAutoFit/>
          </a:bodyPr>
          <a:lstStyle/>
          <a:p>
            <a:pPr algn="ctr"/>
            <a:r>
              <a:rPr sz="4000" b="1" dirty="0" smtClean="0">
                <a:solidFill>
                  <a:srgbClr val="69697D"/>
                </a:solidFill>
                <a:latin typeface="Times New Roman" panose="02020603050405020304" pitchFamily="18" charset="0"/>
                <a:cs typeface="Times New Roman" panose="02020603050405020304" pitchFamily="18" charset="0"/>
              </a:rPr>
              <a:t> </a:t>
            </a:r>
            <a:r>
              <a:rPr sz="4000" b="1" dirty="0">
                <a:solidFill>
                  <a:srgbClr val="69697D"/>
                </a:solidFill>
                <a:latin typeface="Times New Roman" panose="02020603050405020304" pitchFamily="18" charset="0"/>
                <a:cs typeface="Times New Roman" panose="02020603050405020304" pitchFamily="18" charset="0"/>
              </a:rPr>
              <a:t>Project Review – </a:t>
            </a:r>
            <a:r>
              <a:rPr lang="en-US" sz="4000" b="1" dirty="0">
                <a:solidFill>
                  <a:srgbClr val="69697D"/>
                </a:solidFill>
                <a:latin typeface="Times New Roman" panose="02020603050405020304" pitchFamily="18" charset="0"/>
                <a:cs typeface="Times New Roman" panose="02020603050405020304" pitchFamily="18" charset="0"/>
              </a:rPr>
              <a:t>1</a:t>
            </a:r>
            <a:endParaRPr sz="4000" b="1" dirty="0">
              <a:solidFill>
                <a:srgbClr val="69697D"/>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9607" y="0"/>
            <a:ext cx="1301817" cy="539778"/>
          </a:xfrm>
          <a:prstGeom prst="rect">
            <a:avLst/>
          </a:prstGeom>
        </p:spPr>
      </p:pic>
    </p:spTree>
    <p:extLst>
      <p:ext uri="{BB962C8B-B14F-4D97-AF65-F5344CB8AC3E}">
        <p14:creationId xmlns:p14="http://schemas.microsoft.com/office/powerpoint/2010/main" val="1718924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621792"/>
          </a:xfrm>
          <a:prstGeom prst="rect">
            <a:avLst/>
          </a:prstGeom>
          <a:noFill/>
          <a:ln/>
        </p:spPr>
        <p:txBody>
          <a:bodyPr wrap="square" rtlCol="0" anchor="ctr"/>
          <a:lstStyle/>
          <a:p>
            <a:pPr marL="0" indent="0">
              <a:buNone/>
            </a:pPr>
            <a:r>
              <a:rPr lang="en-US" sz="2900" b="1" dirty="0">
                <a:solidFill>
                  <a:srgbClr val="1E1F24"/>
                </a:solidFill>
                <a:latin typeface="Calibri" pitchFamily="34" charset="0"/>
                <a:ea typeface="Calibri" pitchFamily="34" charset="-122"/>
                <a:cs typeface="Calibri" pitchFamily="34" charset="-120"/>
              </a:rPr>
              <a:t>Problem Statement</a:t>
            </a:r>
            <a:endParaRPr lang="en-US" sz="2900" dirty="0"/>
          </a:p>
        </p:txBody>
      </p:sp>
      <p:sp>
        <p:nvSpPr>
          <p:cNvPr id="3" name="Shape 1"/>
          <p:cNvSpPr/>
          <p:nvPr/>
        </p:nvSpPr>
        <p:spPr>
          <a:xfrm>
            <a:off x="566928" y="960120"/>
            <a:ext cx="502920" cy="54864"/>
          </a:xfrm>
          <a:prstGeom prst="rect">
            <a:avLst/>
          </a:prstGeom>
          <a:solidFill>
            <a:srgbClr val="F5A623"/>
          </a:solidFill>
          <a:ln/>
        </p:spPr>
      </p:sp>
      <p:sp>
        <p:nvSpPr>
          <p:cNvPr id="4" name="Shape 2"/>
          <p:cNvSpPr/>
          <p:nvPr/>
        </p:nvSpPr>
        <p:spPr>
          <a:xfrm>
            <a:off x="548640" y="1188720"/>
            <a:ext cx="5349240" cy="786384"/>
          </a:xfrm>
          <a:prstGeom prst="roundRect">
            <a:avLst>
              <a:gd name="adj" fmla="val 10465"/>
            </a:avLst>
          </a:prstGeom>
          <a:solidFill>
            <a:srgbClr val="F3F3F5"/>
          </a:solidFill>
          <a:ln/>
        </p:spPr>
      </p:sp>
      <p:sp>
        <p:nvSpPr>
          <p:cNvPr id="5" name="Shape 3"/>
          <p:cNvSpPr/>
          <p:nvPr/>
        </p:nvSpPr>
        <p:spPr>
          <a:xfrm>
            <a:off x="713232" y="1325880"/>
            <a:ext cx="512064" cy="512064"/>
          </a:xfrm>
          <a:prstGeom prst="ellipse">
            <a:avLst/>
          </a:prstGeom>
          <a:solidFill>
            <a:srgbClr val="34363C"/>
          </a:solidFill>
          <a:ln/>
        </p:spPr>
      </p:sp>
      <p:pic>
        <p:nvPicPr>
          <p:cNvPr id="6" name="Image 0" descr="/home/claude/ppt/icons/cluster.png"/>
          <p:cNvPicPr>
            <a:picLocks noChangeAspect="1"/>
          </p:cNvPicPr>
          <p:nvPr/>
        </p:nvPicPr>
        <p:blipFill>
          <a:blip r:embed="rId3"/>
          <a:stretch>
            <a:fillRect/>
          </a:stretch>
        </p:blipFill>
        <p:spPr>
          <a:xfrm>
            <a:off x="836127" y="1448775"/>
            <a:ext cx="266273" cy="266273"/>
          </a:xfrm>
          <a:prstGeom prst="rect">
            <a:avLst/>
          </a:prstGeom>
        </p:spPr>
      </p:pic>
      <p:sp>
        <p:nvSpPr>
          <p:cNvPr id="7" name="Text 4"/>
          <p:cNvSpPr txBox="1"/>
          <p:nvPr/>
        </p:nvSpPr>
        <p:spPr>
          <a:xfrm>
            <a:off x="1371600" y="1261872"/>
            <a:ext cx="4343400" cy="640080"/>
          </a:xfrm>
          <a:prstGeom prst="rect">
            <a:avLst/>
          </a:prstGeom>
          <a:noFill/>
          <a:ln/>
        </p:spPr>
        <p:txBody>
          <a:bodyPr wrap="square" lIns="0" tIns="0" rIns="0" bIns="0" rtlCol="0" anchor="ctr"/>
          <a:lstStyle/>
          <a:p>
            <a:pPr marL="0" indent="0">
              <a:lnSpc>
                <a:spcPts val="1550"/>
              </a:lnSpc>
              <a:buNone/>
            </a:pPr>
            <a:r>
              <a:rPr lang="en-US" sz="1250" b="1" dirty="0">
                <a:solidFill>
                  <a:srgbClr val="1E1F24"/>
                </a:solidFill>
                <a:latin typeface="Calibri" pitchFamily="34" charset="0"/>
                <a:ea typeface="Calibri" pitchFamily="34" charset="-122"/>
                <a:cs typeface="Calibri" pitchFamily="34" charset="-120"/>
              </a:rPr>
              <a:t>Distributed systems</a:t>
            </a:r>
            <a:endParaRPr lang="en-US" sz="1250" dirty="0"/>
          </a:p>
          <a:p>
            <a:pPr marL="0" indent="0">
              <a:lnSpc>
                <a:spcPts val="1550"/>
              </a:lnSpc>
              <a:buNone/>
            </a:pPr>
            <a:r>
              <a:rPr lang="en-US" sz="1250" dirty="0">
                <a:solidFill>
                  <a:srgbClr val="6B6F76"/>
                </a:solidFill>
                <a:latin typeface="Calibri" pitchFamily="34" charset="0"/>
                <a:ea typeface="Calibri" pitchFamily="34" charset="-122"/>
                <a:cs typeface="Calibri" pitchFamily="34" charset="-120"/>
              </a:rPr>
              <a:t>Modern apps run as many small, interconnected services instead of one large program.</a:t>
            </a:r>
            <a:endParaRPr lang="en-US" sz="1250" dirty="0"/>
          </a:p>
        </p:txBody>
      </p:sp>
      <p:sp>
        <p:nvSpPr>
          <p:cNvPr id="8" name="Shape 5"/>
          <p:cNvSpPr/>
          <p:nvPr/>
        </p:nvSpPr>
        <p:spPr>
          <a:xfrm>
            <a:off x="6172200" y="1188720"/>
            <a:ext cx="5349240" cy="786384"/>
          </a:xfrm>
          <a:prstGeom prst="roundRect">
            <a:avLst>
              <a:gd name="adj" fmla="val 10465"/>
            </a:avLst>
          </a:prstGeom>
          <a:solidFill>
            <a:srgbClr val="F3F3F5"/>
          </a:solidFill>
          <a:ln/>
        </p:spPr>
      </p:sp>
      <p:sp>
        <p:nvSpPr>
          <p:cNvPr id="9" name="Shape 6"/>
          <p:cNvSpPr/>
          <p:nvPr/>
        </p:nvSpPr>
        <p:spPr>
          <a:xfrm>
            <a:off x="6336792" y="1325880"/>
            <a:ext cx="512064" cy="512064"/>
          </a:xfrm>
          <a:prstGeom prst="ellipse">
            <a:avLst/>
          </a:prstGeom>
          <a:solidFill>
            <a:srgbClr val="34363C"/>
          </a:solidFill>
          <a:ln/>
        </p:spPr>
      </p:sp>
      <p:pic>
        <p:nvPicPr>
          <p:cNvPr id="10" name="Image 1" descr="/home/claude/ppt/icons/alert.png"/>
          <p:cNvPicPr>
            <a:picLocks noChangeAspect="1"/>
          </p:cNvPicPr>
          <p:nvPr/>
        </p:nvPicPr>
        <p:blipFill>
          <a:blip r:embed="rId4"/>
          <a:stretch>
            <a:fillRect/>
          </a:stretch>
        </p:blipFill>
        <p:spPr>
          <a:xfrm>
            <a:off x="6459687" y="1448775"/>
            <a:ext cx="266273" cy="266273"/>
          </a:xfrm>
          <a:prstGeom prst="rect">
            <a:avLst/>
          </a:prstGeom>
        </p:spPr>
      </p:pic>
      <p:sp>
        <p:nvSpPr>
          <p:cNvPr id="11" name="Text 7"/>
          <p:cNvSpPr txBox="1"/>
          <p:nvPr/>
        </p:nvSpPr>
        <p:spPr>
          <a:xfrm>
            <a:off x="6995160" y="1261872"/>
            <a:ext cx="4343400" cy="640080"/>
          </a:xfrm>
          <a:prstGeom prst="rect">
            <a:avLst/>
          </a:prstGeom>
          <a:noFill/>
          <a:ln/>
        </p:spPr>
        <p:txBody>
          <a:bodyPr wrap="square" lIns="0" tIns="0" rIns="0" bIns="0" rtlCol="0" anchor="ctr"/>
          <a:lstStyle/>
          <a:p>
            <a:pPr marL="0" indent="0">
              <a:lnSpc>
                <a:spcPts val="1550"/>
              </a:lnSpc>
              <a:buNone/>
            </a:pPr>
            <a:r>
              <a:rPr lang="en-US" sz="1250" b="1" dirty="0">
                <a:solidFill>
                  <a:srgbClr val="1E1F24"/>
                </a:solidFill>
                <a:latin typeface="Calibri" pitchFamily="34" charset="0"/>
                <a:ea typeface="Calibri" pitchFamily="34" charset="-122"/>
                <a:cs typeface="Calibri" pitchFamily="34" charset="-120"/>
              </a:rPr>
              <a:t>Alert storm</a:t>
            </a:r>
            <a:endParaRPr lang="en-US" sz="1250" dirty="0"/>
          </a:p>
          <a:p>
            <a:pPr marL="0" indent="0">
              <a:lnSpc>
                <a:spcPts val="1550"/>
              </a:lnSpc>
              <a:buNone/>
            </a:pPr>
            <a:r>
              <a:rPr lang="en-US" sz="1250" dirty="0">
                <a:solidFill>
                  <a:srgbClr val="6B6F76"/>
                </a:solidFill>
                <a:latin typeface="Calibri" pitchFamily="34" charset="0"/>
                <a:ea typeface="Calibri" pitchFamily="34" charset="-122"/>
                <a:cs typeface="Calibri" pitchFamily="34" charset="-120"/>
              </a:rPr>
              <a:t>A single failure can trigger dozens of separate alerts across different tools.</a:t>
            </a:r>
            <a:endParaRPr lang="en-US" sz="1250" dirty="0"/>
          </a:p>
        </p:txBody>
      </p:sp>
      <p:sp>
        <p:nvSpPr>
          <p:cNvPr id="12" name="Shape 8"/>
          <p:cNvSpPr/>
          <p:nvPr/>
        </p:nvSpPr>
        <p:spPr>
          <a:xfrm>
            <a:off x="548640" y="2084832"/>
            <a:ext cx="5349240" cy="786384"/>
          </a:xfrm>
          <a:prstGeom prst="roundRect">
            <a:avLst>
              <a:gd name="adj" fmla="val 10465"/>
            </a:avLst>
          </a:prstGeom>
          <a:solidFill>
            <a:srgbClr val="F3F3F5"/>
          </a:solidFill>
          <a:ln/>
        </p:spPr>
      </p:sp>
      <p:sp>
        <p:nvSpPr>
          <p:cNvPr id="13" name="Shape 9"/>
          <p:cNvSpPr/>
          <p:nvPr/>
        </p:nvSpPr>
        <p:spPr>
          <a:xfrm>
            <a:off x="713232" y="2221992"/>
            <a:ext cx="512064" cy="512064"/>
          </a:xfrm>
          <a:prstGeom prst="ellipse">
            <a:avLst/>
          </a:prstGeom>
          <a:solidFill>
            <a:srgbClr val="34363C"/>
          </a:solidFill>
          <a:ln/>
        </p:spPr>
      </p:sp>
      <p:pic>
        <p:nvPicPr>
          <p:cNvPr id="14" name="Image 2" descr="/home/claude/ppt/icons/search.png"/>
          <p:cNvPicPr>
            <a:picLocks noChangeAspect="1"/>
          </p:cNvPicPr>
          <p:nvPr/>
        </p:nvPicPr>
        <p:blipFill>
          <a:blip r:embed="rId5"/>
          <a:stretch>
            <a:fillRect/>
          </a:stretch>
        </p:blipFill>
        <p:spPr>
          <a:xfrm>
            <a:off x="836127" y="2344887"/>
            <a:ext cx="266273" cy="266273"/>
          </a:xfrm>
          <a:prstGeom prst="rect">
            <a:avLst/>
          </a:prstGeom>
        </p:spPr>
      </p:pic>
      <p:sp>
        <p:nvSpPr>
          <p:cNvPr id="15" name="Text 10"/>
          <p:cNvSpPr txBox="1"/>
          <p:nvPr/>
        </p:nvSpPr>
        <p:spPr>
          <a:xfrm>
            <a:off x="1371600" y="2157984"/>
            <a:ext cx="4343400" cy="640080"/>
          </a:xfrm>
          <a:prstGeom prst="rect">
            <a:avLst/>
          </a:prstGeom>
          <a:noFill/>
          <a:ln/>
        </p:spPr>
        <p:txBody>
          <a:bodyPr wrap="square" lIns="0" tIns="0" rIns="0" bIns="0" rtlCol="0" anchor="ctr"/>
          <a:lstStyle/>
          <a:p>
            <a:pPr marL="0" indent="0">
              <a:lnSpc>
                <a:spcPts val="1550"/>
              </a:lnSpc>
              <a:buNone/>
            </a:pPr>
            <a:r>
              <a:rPr lang="en-US" sz="1250" b="1" dirty="0">
                <a:solidFill>
                  <a:srgbClr val="1E1F24"/>
                </a:solidFill>
                <a:latin typeface="Calibri" pitchFamily="34" charset="0"/>
                <a:ea typeface="Calibri" pitchFamily="34" charset="-122"/>
                <a:cs typeface="Calibri" pitchFamily="34" charset="-120"/>
              </a:rPr>
              <a:t>Confusion</a:t>
            </a:r>
            <a:endParaRPr lang="en-US" sz="1250" dirty="0"/>
          </a:p>
          <a:p>
            <a:pPr marL="0" indent="0">
              <a:lnSpc>
                <a:spcPts val="1550"/>
              </a:lnSpc>
              <a:buNone/>
            </a:pPr>
            <a:r>
              <a:rPr lang="en-US" sz="1250" dirty="0">
                <a:solidFill>
                  <a:srgbClr val="6B6F76"/>
                </a:solidFill>
                <a:latin typeface="Calibri" pitchFamily="34" charset="0"/>
                <a:ea typeface="Calibri" pitchFamily="34" charset="-122"/>
                <a:cs typeface="Calibri" pitchFamily="34" charset="-120"/>
              </a:rPr>
              <a:t>Engineers struggle to tell which alerts are connected and which matter most.</a:t>
            </a:r>
            <a:endParaRPr lang="en-US" sz="1250" dirty="0"/>
          </a:p>
        </p:txBody>
      </p:sp>
      <p:sp>
        <p:nvSpPr>
          <p:cNvPr id="16" name="Shape 11"/>
          <p:cNvSpPr/>
          <p:nvPr/>
        </p:nvSpPr>
        <p:spPr>
          <a:xfrm>
            <a:off x="6172200" y="2084832"/>
            <a:ext cx="5349240" cy="786384"/>
          </a:xfrm>
          <a:prstGeom prst="roundRect">
            <a:avLst>
              <a:gd name="adj" fmla="val 10465"/>
            </a:avLst>
          </a:prstGeom>
          <a:solidFill>
            <a:srgbClr val="F3F3F5"/>
          </a:solidFill>
          <a:ln/>
        </p:spPr>
      </p:sp>
      <p:sp>
        <p:nvSpPr>
          <p:cNvPr id="17" name="Shape 12"/>
          <p:cNvSpPr/>
          <p:nvPr/>
        </p:nvSpPr>
        <p:spPr>
          <a:xfrm>
            <a:off x="6336792" y="2221992"/>
            <a:ext cx="512064" cy="512064"/>
          </a:xfrm>
          <a:prstGeom prst="ellipse">
            <a:avLst/>
          </a:prstGeom>
          <a:solidFill>
            <a:srgbClr val="34363C"/>
          </a:solidFill>
          <a:ln/>
        </p:spPr>
      </p:sp>
      <p:pic>
        <p:nvPicPr>
          <p:cNvPr id="18" name="Image 3" descr="/home/claude/ppt/icons/merge.png"/>
          <p:cNvPicPr>
            <a:picLocks noChangeAspect="1"/>
          </p:cNvPicPr>
          <p:nvPr/>
        </p:nvPicPr>
        <p:blipFill>
          <a:blip r:embed="rId6"/>
          <a:stretch>
            <a:fillRect/>
          </a:stretch>
        </p:blipFill>
        <p:spPr>
          <a:xfrm>
            <a:off x="6459687" y="2344887"/>
            <a:ext cx="266273" cy="266273"/>
          </a:xfrm>
          <a:prstGeom prst="rect">
            <a:avLst/>
          </a:prstGeom>
        </p:spPr>
      </p:pic>
      <p:sp>
        <p:nvSpPr>
          <p:cNvPr id="19" name="Text 13"/>
          <p:cNvSpPr txBox="1"/>
          <p:nvPr/>
        </p:nvSpPr>
        <p:spPr>
          <a:xfrm>
            <a:off x="6995160" y="2157984"/>
            <a:ext cx="4343400" cy="640080"/>
          </a:xfrm>
          <a:prstGeom prst="rect">
            <a:avLst/>
          </a:prstGeom>
          <a:noFill/>
          <a:ln/>
        </p:spPr>
        <p:txBody>
          <a:bodyPr wrap="square" lIns="0" tIns="0" rIns="0" bIns="0" rtlCol="0" anchor="ctr"/>
          <a:lstStyle/>
          <a:p>
            <a:pPr marL="0" indent="0">
              <a:lnSpc>
                <a:spcPts val="1550"/>
              </a:lnSpc>
              <a:buNone/>
            </a:pPr>
            <a:r>
              <a:rPr lang="en-US" sz="1250" b="1" dirty="0">
                <a:solidFill>
                  <a:srgbClr val="1E1F24"/>
                </a:solidFill>
                <a:latin typeface="Calibri" pitchFamily="34" charset="0"/>
                <a:ea typeface="Calibri" pitchFamily="34" charset="-122"/>
                <a:cs typeface="Calibri" pitchFamily="34" charset="-120"/>
              </a:rPr>
              <a:t>Duplicate symptoms</a:t>
            </a:r>
            <a:endParaRPr lang="en-US" sz="1250" dirty="0"/>
          </a:p>
          <a:p>
            <a:pPr marL="0" indent="0">
              <a:lnSpc>
                <a:spcPts val="1550"/>
              </a:lnSpc>
              <a:buNone/>
            </a:pPr>
            <a:r>
              <a:rPr lang="en-US" sz="1250" dirty="0">
                <a:solidFill>
                  <a:srgbClr val="6B6F76"/>
                </a:solidFill>
                <a:latin typeface="Calibri" pitchFamily="34" charset="0"/>
                <a:ea typeface="Calibri" pitchFamily="34" charset="-122"/>
                <a:cs typeface="Calibri" pitchFamily="34" charset="-120"/>
              </a:rPr>
              <a:t>The same root problem often shows up as several unrelated-looking issues.</a:t>
            </a:r>
            <a:endParaRPr lang="en-US" sz="1250" dirty="0"/>
          </a:p>
        </p:txBody>
      </p:sp>
      <p:sp>
        <p:nvSpPr>
          <p:cNvPr id="20" name="Shape 14"/>
          <p:cNvSpPr/>
          <p:nvPr/>
        </p:nvSpPr>
        <p:spPr>
          <a:xfrm>
            <a:off x="548640" y="2980944"/>
            <a:ext cx="5349240" cy="786384"/>
          </a:xfrm>
          <a:prstGeom prst="roundRect">
            <a:avLst>
              <a:gd name="adj" fmla="val 10465"/>
            </a:avLst>
          </a:prstGeom>
          <a:solidFill>
            <a:srgbClr val="F3F3F5"/>
          </a:solidFill>
          <a:ln/>
        </p:spPr>
      </p:sp>
      <p:sp>
        <p:nvSpPr>
          <p:cNvPr id="21" name="Shape 15"/>
          <p:cNvSpPr/>
          <p:nvPr/>
        </p:nvSpPr>
        <p:spPr>
          <a:xfrm>
            <a:off x="713232" y="3118104"/>
            <a:ext cx="512064" cy="512064"/>
          </a:xfrm>
          <a:prstGeom prst="ellipse">
            <a:avLst/>
          </a:prstGeom>
          <a:solidFill>
            <a:srgbClr val="34363C"/>
          </a:solidFill>
          <a:ln/>
        </p:spPr>
      </p:sp>
      <p:pic>
        <p:nvPicPr>
          <p:cNvPr id="22" name="Image 4" descr="/home/claude/ppt/icons/trend.png"/>
          <p:cNvPicPr>
            <a:picLocks noChangeAspect="1"/>
          </p:cNvPicPr>
          <p:nvPr/>
        </p:nvPicPr>
        <p:blipFill>
          <a:blip r:embed="rId7"/>
          <a:stretch>
            <a:fillRect/>
          </a:stretch>
        </p:blipFill>
        <p:spPr>
          <a:xfrm>
            <a:off x="836127" y="3240999"/>
            <a:ext cx="266273" cy="266273"/>
          </a:xfrm>
          <a:prstGeom prst="rect">
            <a:avLst/>
          </a:prstGeom>
        </p:spPr>
      </p:pic>
      <p:sp>
        <p:nvSpPr>
          <p:cNvPr id="23" name="Text 16"/>
          <p:cNvSpPr txBox="1"/>
          <p:nvPr/>
        </p:nvSpPr>
        <p:spPr>
          <a:xfrm>
            <a:off x="1371600" y="3054096"/>
            <a:ext cx="4343400" cy="640080"/>
          </a:xfrm>
          <a:prstGeom prst="rect">
            <a:avLst/>
          </a:prstGeom>
          <a:noFill/>
          <a:ln/>
        </p:spPr>
        <p:txBody>
          <a:bodyPr wrap="square" lIns="0" tIns="0" rIns="0" bIns="0" rtlCol="0" anchor="ctr"/>
          <a:lstStyle/>
          <a:p>
            <a:pPr marL="0" indent="0">
              <a:lnSpc>
                <a:spcPts val="1550"/>
              </a:lnSpc>
              <a:buNone/>
            </a:pPr>
            <a:r>
              <a:rPr lang="en-US" sz="1250" b="1" dirty="0">
                <a:solidFill>
                  <a:srgbClr val="1E1F24"/>
                </a:solidFill>
                <a:latin typeface="Calibri" pitchFamily="34" charset="0"/>
                <a:ea typeface="Calibri" pitchFamily="34" charset="-122"/>
                <a:cs typeface="Calibri" pitchFamily="34" charset="-120"/>
              </a:rPr>
              <a:t>Slow diagnosis</a:t>
            </a:r>
            <a:endParaRPr lang="en-US" sz="1250" dirty="0"/>
          </a:p>
          <a:p>
            <a:pPr marL="0" indent="0">
              <a:lnSpc>
                <a:spcPts val="1550"/>
              </a:lnSpc>
              <a:buNone/>
            </a:pPr>
            <a:r>
              <a:rPr lang="en-US" sz="1250" dirty="0">
                <a:solidFill>
                  <a:srgbClr val="6B6F76"/>
                </a:solidFill>
                <a:latin typeface="Calibri" pitchFamily="34" charset="0"/>
                <a:ea typeface="Calibri" pitchFamily="34" charset="-122"/>
                <a:cs typeface="Calibri" pitchFamily="34" charset="-120"/>
              </a:rPr>
              <a:t>Without correlation, finding the real root cause takes precious time.</a:t>
            </a:r>
            <a:endParaRPr lang="en-US" sz="1250" dirty="0"/>
          </a:p>
        </p:txBody>
      </p:sp>
      <p:sp>
        <p:nvSpPr>
          <p:cNvPr id="24" name="Shape 17"/>
          <p:cNvSpPr/>
          <p:nvPr/>
        </p:nvSpPr>
        <p:spPr>
          <a:xfrm>
            <a:off x="6172200" y="2980944"/>
            <a:ext cx="5349240" cy="786384"/>
          </a:xfrm>
          <a:prstGeom prst="roundRect">
            <a:avLst>
              <a:gd name="adj" fmla="val 10465"/>
            </a:avLst>
          </a:prstGeom>
          <a:solidFill>
            <a:srgbClr val="F3F3F5"/>
          </a:solidFill>
          <a:ln/>
        </p:spPr>
      </p:sp>
      <p:sp>
        <p:nvSpPr>
          <p:cNvPr id="25" name="Shape 18"/>
          <p:cNvSpPr/>
          <p:nvPr/>
        </p:nvSpPr>
        <p:spPr>
          <a:xfrm>
            <a:off x="6336792" y="3118104"/>
            <a:ext cx="512064" cy="512064"/>
          </a:xfrm>
          <a:prstGeom prst="ellipse">
            <a:avLst/>
          </a:prstGeom>
          <a:solidFill>
            <a:srgbClr val="34363C"/>
          </a:solidFill>
          <a:ln/>
        </p:spPr>
      </p:sp>
      <p:pic>
        <p:nvPicPr>
          <p:cNvPr id="26" name="Image 5" descr="/home/claude/ppt/icons/resolve.png"/>
          <p:cNvPicPr>
            <a:picLocks noChangeAspect="1"/>
          </p:cNvPicPr>
          <p:nvPr/>
        </p:nvPicPr>
        <p:blipFill>
          <a:blip r:embed="rId8"/>
          <a:stretch>
            <a:fillRect/>
          </a:stretch>
        </p:blipFill>
        <p:spPr>
          <a:xfrm>
            <a:off x="6459687" y="3240999"/>
            <a:ext cx="266273" cy="266273"/>
          </a:xfrm>
          <a:prstGeom prst="rect">
            <a:avLst/>
          </a:prstGeom>
        </p:spPr>
      </p:pic>
      <p:sp>
        <p:nvSpPr>
          <p:cNvPr id="27" name="Text 19"/>
          <p:cNvSpPr txBox="1"/>
          <p:nvPr/>
        </p:nvSpPr>
        <p:spPr>
          <a:xfrm>
            <a:off x="6995160" y="3054096"/>
            <a:ext cx="4343400" cy="640080"/>
          </a:xfrm>
          <a:prstGeom prst="rect">
            <a:avLst/>
          </a:prstGeom>
          <a:noFill/>
          <a:ln/>
        </p:spPr>
        <p:txBody>
          <a:bodyPr wrap="square" lIns="0" tIns="0" rIns="0" bIns="0" rtlCol="0" anchor="ctr"/>
          <a:lstStyle/>
          <a:p>
            <a:pPr marL="0" indent="0">
              <a:lnSpc>
                <a:spcPts val="1550"/>
              </a:lnSpc>
              <a:buNone/>
            </a:pPr>
            <a:r>
              <a:rPr lang="en-US" sz="1250" b="1" dirty="0">
                <a:solidFill>
                  <a:srgbClr val="1E1F24"/>
                </a:solidFill>
                <a:latin typeface="Calibri" pitchFamily="34" charset="0"/>
                <a:ea typeface="Calibri" pitchFamily="34" charset="-122"/>
                <a:cs typeface="Calibri" pitchFamily="34" charset="-120"/>
              </a:rPr>
              <a:t>Result</a:t>
            </a:r>
            <a:endParaRPr lang="en-US" sz="1250" dirty="0"/>
          </a:p>
          <a:p>
            <a:pPr marL="0" indent="0">
              <a:lnSpc>
                <a:spcPts val="1550"/>
              </a:lnSpc>
              <a:buNone/>
            </a:pPr>
            <a:r>
              <a:rPr lang="en-US" sz="1250" dirty="0">
                <a:solidFill>
                  <a:srgbClr val="6B6F76"/>
                </a:solidFill>
                <a:latin typeface="Calibri" pitchFamily="34" charset="0"/>
                <a:ea typeface="Calibri" pitchFamily="34" charset="-122"/>
                <a:cs typeface="Calibri" pitchFamily="34" charset="-120"/>
              </a:rPr>
              <a:t>All of this adds up to longer downtime and a slower recovery process.</a:t>
            </a:r>
            <a:endParaRPr lang="en-US" sz="1250" dirty="0"/>
          </a:p>
        </p:txBody>
      </p:sp>
      <p:sp>
        <p:nvSpPr>
          <p:cNvPr id="28" name="Shape 20"/>
          <p:cNvSpPr/>
          <p:nvPr/>
        </p:nvSpPr>
        <p:spPr>
          <a:xfrm>
            <a:off x="548640" y="3977640"/>
            <a:ext cx="11064240" cy="914400"/>
          </a:xfrm>
          <a:prstGeom prst="roundRect">
            <a:avLst>
              <a:gd name="adj" fmla="val 10000"/>
            </a:avLst>
          </a:prstGeom>
          <a:solidFill>
            <a:srgbClr val="141416"/>
          </a:solidFill>
          <a:ln/>
        </p:spPr>
      </p:sp>
      <p:sp>
        <p:nvSpPr>
          <p:cNvPr id="29" name="Text 21"/>
          <p:cNvSpPr txBox="1"/>
          <p:nvPr/>
        </p:nvSpPr>
        <p:spPr>
          <a:xfrm>
            <a:off x="822960" y="3977640"/>
            <a:ext cx="10515600" cy="914400"/>
          </a:xfrm>
          <a:prstGeom prst="rect">
            <a:avLst/>
          </a:prstGeom>
          <a:noFill/>
          <a:ln/>
        </p:spPr>
        <p:txBody>
          <a:bodyPr wrap="square" rtlCol="0" anchor="ctr"/>
          <a:lstStyle/>
          <a:p>
            <a:pPr marL="0" indent="0">
              <a:lnSpc>
                <a:spcPts val="1900"/>
              </a:lnSpc>
              <a:buNone/>
            </a:pPr>
            <a:r>
              <a:rPr lang="en-US" sz="1550" b="1" dirty="0">
                <a:solidFill>
                  <a:srgbClr val="F5A623"/>
                </a:solidFill>
                <a:latin typeface="Calibri" pitchFamily="34" charset="0"/>
                <a:ea typeface="Calibri" pitchFamily="34" charset="-122"/>
                <a:cs typeface="Calibri" pitchFamily="34" charset="-120"/>
              </a:rPr>
              <a:t>Real example:  </a:t>
            </a:r>
            <a:r>
              <a:rPr lang="en-US" sz="1550" b="1" dirty="0">
                <a:solidFill>
                  <a:srgbClr val="FFFFFF"/>
                </a:solidFill>
                <a:latin typeface="Calibri" pitchFamily="34" charset="0"/>
                <a:ea typeface="Calibri" pitchFamily="34" charset="-122"/>
                <a:cs typeface="Calibri" pitchFamily="34" charset="-120"/>
              </a:rPr>
              <a:t>High CPU + pod crash + DB error </a:t>
            </a:r>
            <a:r>
              <a:rPr lang="en-US" sz="1550" dirty="0">
                <a:solidFill>
                  <a:srgbClr val="C9CBD1"/>
                </a:solidFill>
                <a:latin typeface="Calibri" pitchFamily="34" charset="0"/>
                <a:ea typeface="Calibri" pitchFamily="34" charset="-122"/>
                <a:cs typeface="Calibri" pitchFamily="34" charset="-120"/>
              </a:rPr>
              <a:t>look like 3 problems - but they are actually </a:t>
            </a:r>
            <a:r>
              <a:rPr lang="en-US" sz="1550" b="1" dirty="0">
                <a:solidFill>
                  <a:srgbClr val="F5A623"/>
                </a:solidFill>
                <a:latin typeface="Calibri" pitchFamily="34" charset="0"/>
                <a:ea typeface="Calibri" pitchFamily="34" charset="-122"/>
                <a:cs typeface="Calibri" pitchFamily="34" charset="-120"/>
              </a:rPr>
              <a:t>one root issue.</a:t>
            </a:r>
            <a:endParaRPr lang="en-US" sz="1550" dirty="0"/>
          </a:p>
        </p:txBody>
      </p:sp>
      <p:sp>
        <p:nvSpPr>
          <p:cNvPr id="30" name="Text 22"/>
          <p:cNvSpPr txBox="1"/>
          <p:nvPr/>
        </p:nvSpPr>
        <p:spPr>
          <a:xfrm>
            <a:off x="548640" y="5120640"/>
            <a:ext cx="11064240" cy="548640"/>
          </a:xfrm>
          <a:prstGeom prst="rect">
            <a:avLst/>
          </a:prstGeom>
          <a:noFill/>
          <a:ln/>
        </p:spPr>
        <p:txBody>
          <a:bodyPr wrap="square" rtlCol="0" anchor="ctr"/>
          <a:lstStyle/>
          <a:p>
            <a:pPr marL="0" indent="0">
              <a:lnSpc>
                <a:spcPts val="1900"/>
              </a:lnSpc>
              <a:buNone/>
            </a:pPr>
            <a:r>
              <a:rPr lang="en-US" sz="1500" b="1" dirty="0">
                <a:solidFill>
                  <a:srgbClr val="1E1F24"/>
                </a:solidFill>
                <a:latin typeface="Calibri" pitchFamily="34" charset="0"/>
                <a:ea typeface="Calibri" pitchFamily="34" charset="-122"/>
                <a:cs typeface="Calibri" pitchFamily="34" charset="-120"/>
              </a:rPr>
              <a:t>The need: </a:t>
            </a:r>
            <a:r>
              <a:rPr lang="en-US" sz="1500" i="1" dirty="0">
                <a:solidFill>
                  <a:srgbClr val="6B6F76"/>
                </a:solidFill>
                <a:latin typeface="Calibri" pitchFamily="34" charset="0"/>
                <a:ea typeface="Calibri" pitchFamily="34" charset="-122"/>
                <a:cs typeface="Calibri" pitchFamily="34" charset="-120"/>
              </a:rPr>
              <a:t>a system that groups alerts, finds the root cause, and helps fix problems quickly.</a:t>
            </a:r>
            <a:endParaRPr lang="en-US" sz="1500" dirty="0"/>
          </a:p>
        </p:txBody>
      </p:sp>
      <p:sp>
        <p:nvSpPr>
          <p:cNvPr id="31" name="Text 23"/>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AFB1B8"/>
                </a:solidFill>
                <a:latin typeface="Calibri" pitchFamily="34" charset="0"/>
                <a:ea typeface="Calibri" pitchFamily="34" charset="-122"/>
                <a:cs typeface="Calibri" pitchFamily="34" charset="-120"/>
              </a:rPr>
              <a:t>2</a:t>
            </a:r>
            <a:endParaRPr lang="en-US" sz="1000" dirty="0"/>
          </a:p>
        </p:txBody>
      </p:sp>
      <p:sp>
        <p:nvSpPr>
          <p:cNvPr id="32" name="Text 24"/>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C7C9CE"/>
                </a:solidFill>
                <a:latin typeface="Calibri" pitchFamily="34" charset="0"/>
                <a:ea typeface="Calibri" pitchFamily="34" charset="-122"/>
                <a:cs typeface="Calibri" pitchFamily="34" charset="-120"/>
              </a:rPr>
              <a:t>DevOps Incident Management System</a:t>
            </a:r>
            <a:endParaRPr lang="en-US" sz="900" dirty="0"/>
          </a:p>
        </p:txBody>
      </p:sp>
      <p:pic>
        <p:nvPicPr>
          <p:cNvPr id="34" name="Picture 33">
            <a:extLst>
              <a:ext uri="{FF2B5EF4-FFF2-40B4-BE49-F238E27FC236}">
                <a16:creationId xmlns:a16="http://schemas.microsoft.com/office/drawing/2014/main" xmlns="" id="{AF530653-C1CF-C6A0-49B4-C89B8942286C}"/>
              </a:ext>
            </a:extLst>
          </p:cNvPr>
          <p:cNvPicPr>
            <a:picLocks noChangeAspect="1"/>
          </p:cNvPicPr>
          <p:nvPr/>
        </p:nvPicPr>
        <p:blipFill>
          <a:blip r:embed="rId9"/>
          <a:stretch>
            <a:fillRect/>
          </a:stretch>
        </p:blipFill>
        <p:spPr>
          <a:xfrm>
            <a:off x="10249380" y="9331"/>
            <a:ext cx="1942620" cy="62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621792"/>
          </a:xfrm>
          <a:prstGeom prst="rect">
            <a:avLst/>
          </a:prstGeom>
          <a:noFill/>
          <a:ln/>
        </p:spPr>
        <p:txBody>
          <a:bodyPr wrap="square" rtlCol="0" anchor="ctr"/>
          <a:lstStyle/>
          <a:p>
            <a:pPr marL="0" indent="0">
              <a:buNone/>
            </a:pPr>
            <a:r>
              <a:rPr lang="en-US" sz="2900" b="1" dirty="0">
                <a:solidFill>
                  <a:srgbClr val="1E1F24"/>
                </a:solidFill>
                <a:latin typeface="Calibri" pitchFamily="34" charset="0"/>
                <a:ea typeface="Calibri" pitchFamily="34" charset="-122"/>
                <a:cs typeface="Calibri" pitchFamily="34" charset="-120"/>
              </a:rPr>
              <a:t>Existing Solutions &amp; Their Limitations</a:t>
            </a:r>
            <a:endParaRPr lang="en-US" sz="2900" dirty="0"/>
          </a:p>
        </p:txBody>
      </p:sp>
      <p:sp>
        <p:nvSpPr>
          <p:cNvPr id="3" name="Shape 1"/>
          <p:cNvSpPr/>
          <p:nvPr/>
        </p:nvSpPr>
        <p:spPr>
          <a:xfrm>
            <a:off x="566928" y="960120"/>
            <a:ext cx="502920" cy="54864"/>
          </a:xfrm>
          <a:prstGeom prst="rect">
            <a:avLst/>
          </a:prstGeom>
          <a:solidFill>
            <a:srgbClr val="F5A623"/>
          </a:solidFill>
          <a:ln/>
        </p:spPr>
      </p:sp>
      <p:sp>
        <p:nvSpPr>
          <p:cNvPr id="4" name="Shape 2"/>
          <p:cNvSpPr/>
          <p:nvPr/>
        </p:nvSpPr>
        <p:spPr>
          <a:xfrm>
            <a:off x="548640" y="1115568"/>
            <a:ext cx="2377440" cy="475488"/>
          </a:xfrm>
          <a:prstGeom prst="roundRect">
            <a:avLst>
              <a:gd name="adj" fmla="val 17308"/>
            </a:avLst>
          </a:prstGeom>
          <a:solidFill>
            <a:srgbClr val="34363C"/>
          </a:solidFill>
          <a:ln/>
        </p:spPr>
      </p:sp>
      <p:sp>
        <p:nvSpPr>
          <p:cNvPr id="5" name="Text 3"/>
          <p:cNvSpPr txBox="1"/>
          <p:nvPr/>
        </p:nvSpPr>
        <p:spPr>
          <a:xfrm>
            <a:off x="548640" y="1115568"/>
            <a:ext cx="237744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PagerDuty</a:t>
            </a:r>
            <a:endParaRPr lang="en-US" sz="1400" dirty="0"/>
          </a:p>
        </p:txBody>
      </p:sp>
      <p:sp>
        <p:nvSpPr>
          <p:cNvPr id="6" name="Shape 4"/>
          <p:cNvSpPr/>
          <p:nvPr/>
        </p:nvSpPr>
        <p:spPr>
          <a:xfrm>
            <a:off x="3108960" y="1115568"/>
            <a:ext cx="2377440" cy="475488"/>
          </a:xfrm>
          <a:prstGeom prst="roundRect">
            <a:avLst>
              <a:gd name="adj" fmla="val 17308"/>
            </a:avLst>
          </a:prstGeom>
          <a:solidFill>
            <a:srgbClr val="34363C"/>
          </a:solidFill>
          <a:ln/>
        </p:spPr>
      </p:sp>
      <p:sp>
        <p:nvSpPr>
          <p:cNvPr id="7" name="Text 5"/>
          <p:cNvSpPr txBox="1"/>
          <p:nvPr/>
        </p:nvSpPr>
        <p:spPr>
          <a:xfrm>
            <a:off x="3108960" y="1115568"/>
            <a:ext cx="237744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Opsgenie</a:t>
            </a:r>
            <a:endParaRPr lang="en-US" sz="1400" dirty="0"/>
          </a:p>
        </p:txBody>
      </p:sp>
      <p:sp>
        <p:nvSpPr>
          <p:cNvPr id="8" name="Shape 6"/>
          <p:cNvSpPr/>
          <p:nvPr/>
        </p:nvSpPr>
        <p:spPr>
          <a:xfrm>
            <a:off x="5669280" y="1115568"/>
            <a:ext cx="2377440" cy="475488"/>
          </a:xfrm>
          <a:prstGeom prst="roundRect">
            <a:avLst>
              <a:gd name="adj" fmla="val 17308"/>
            </a:avLst>
          </a:prstGeom>
          <a:solidFill>
            <a:srgbClr val="34363C"/>
          </a:solidFill>
          <a:ln/>
        </p:spPr>
      </p:sp>
      <p:sp>
        <p:nvSpPr>
          <p:cNvPr id="9" name="Text 7"/>
          <p:cNvSpPr txBox="1"/>
          <p:nvPr/>
        </p:nvSpPr>
        <p:spPr>
          <a:xfrm>
            <a:off x="5669280" y="1115568"/>
            <a:ext cx="237744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ServiceNow</a:t>
            </a:r>
            <a:endParaRPr lang="en-US" sz="1400" dirty="0"/>
          </a:p>
        </p:txBody>
      </p:sp>
      <p:sp>
        <p:nvSpPr>
          <p:cNvPr id="10" name="Text 8"/>
          <p:cNvSpPr txBox="1"/>
          <p:nvPr/>
        </p:nvSpPr>
        <p:spPr>
          <a:xfrm>
            <a:off x="8138160" y="1115568"/>
            <a:ext cx="3520440" cy="530352"/>
          </a:xfrm>
          <a:prstGeom prst="rect">
            <a:avLst/>
          </a:prstGeom>
          <a:noFill/>
          <a:ln/>
        </p:spPr>
        <p:txBody>
          <a:bodyPr wrap="square" rtlCol="0" anchor="ctr"/>
          <a:lstStyle/>
          <a:p>
            <a:pPr marL="0" indent="0">
              <a:lnSpc>
                <a:spcPts val="1400"/>
              </a:lnSpc>
              <a:buNone/>
            </a:pPr>
            <a:r>
              <a:rPr lang="en-US" sz="1150" b="1" dirty="0">
                <a:solidFill>
                  <a:srgbClr val="1E1F24"/>
                </a:solidFill>
                <a:latin typeface="Calibri" pitchFamily="34" charset="0"/>
                <a:ea typeface="Calibri" pitchFamily="34" charset="-122"/>
                <a:cs typeface="Calibri" pitchFamily="34" charset="-120"/>
              </a:rPr>
              <a:t>What they do:  </a:t>
            </a:r>
            <a:r>
              <a:rPr lang="en-US" sz="1150" dirty="0">
                <a:solidFill>
                  <a:srgbClr val="6B6F76"/>
                </a:solidFill>
                <a:latin typeface="Calibri" pitchFamily="34" charset="0"/>
                <a:ea typeface="Calibri" pitchFamily="34" charset="-122"/>
                <a:cs typeface="Calibri" pitchFamily="34" charset="-120"/>
              </a:rPr>
              <a:t>alert management, on-call notifications, and incident tracking for large teams.</a:t>
            </a:r>
            <a:endParaRPr lang="en-US" sz="1150" dirty="0"/>
          </a:p>
        </p:txBody>
      </p:sp>
      <p:sp>
        <p:nvSpPr>
          <p:cNvPr id="11" name="Text 9"/>
          <p:cNvSpPr txBox="1"/>
          <p:nvPr/>
        </p:nvSpPr>
        <p:spPr>
          <a:xfrm>
            <a:off x="548640" y="1810512"/>
            <a:ext cx="3657600" cy="320040"/>
          </a:xfrm>
          <a:prstGeom prst="rect">
            <a:avLst/>
          </a:prstGeom>
          <a:noFill/>
          <a:ln/>
        </p:spPr>
        <p:txBody>
          <a:bodyPr wrap="square" rtlCol="0" anchor="ctr"/>
          <a:lstStyle/>
          <a:p>
            <a:pPr marL="0" indent="0">
              <a:buNone/>
            </a:pPr>
            <a:r>
              <a:rPr lang="en-US" sz="1450" b="1" dirty="0">
                <a:solidFill>
                  <a:srgbClr val="1E1F24"/>
                </a:solidFill>
                <a:latin typeface="Calibri" pitchFamily="34" charset="0"/>
                <a:ea typeface="Calibri" pitchFamily="34" charset="-122"/>
                <a:cs typeface="Calibri" pitchFamily="34" charset="-120"/>
              </a:rPr>
              <a:t>Limitations</a:t>
            </a:r>
            <a:endParaRPr lang="en-US" sz="1450" dirty="0"/>
          </a:p>
        </p:txBody>
      </p:sp>
      <p:sp>
        <p:nvSpPr>
          <p:cNvPr id="12" name="Shape 10"/>
          <p:cNvSpPr/>
          <p:nvPr/>
        </p:nvSpPr>
        <p:spPr>
          <a:xfrm>
            <a:off x="548640" y="2148840"/>
            <a:ext cx="2084832" cy="1417320"/>
          </a:xfrm>
          <a:prstGeom prst="roundRect">
            <a:avLst>
              <a:gd name="adj" fmla="val 6452"/>
            </a:avLst>
          </a:prstGeom>
          <a:solidFill>
            <a:srgbClr val="F3F3F5"/>
          </a:solidFill>
          <a:ln/>
        </p:spPr>
      </p:sp>
      <p:sp>
        <p:nvSpPr>
          <p:cNvPr id="13" name="Shape 11"/>
          <p:cNvSpPr/>
          <p:nvPr/>
        </p:nvSpPr>
        <p:spPr>
          <a:xfrm>
            <a:off x="1353312" y="2276856"/>
            <a:ext cx="475488" cy="475488"/>
          </a:xfrm>
          <a:prstGeom prst="ellipse">
            <a:avLst/>
          </a:prstGeom>
          <a:solidFill>
            <a:srgbClr val="34363C"/>
          </a:solidFill>
          <a:ln/>
        </p:spPr>
      </p:sp>
      <p:pic>
        <p:nvPicPr>
          <p:cNvPr id="14" name="Image 0" descr="/home/claude/ppt/icons/complex.png"/>
          <p:cNvPicPr>
            <a:picLocks noChangeAspect="1"/>
          </p:cNvPicPr>
          <p:nvPr/>
        </p:nvPicPr>
        <p:blipFill>
          <a:blip r:embed="rId3"/>
          <a:stretch>
            <a:fillRect/>
          </a:stretch>
        </p:blipFill>
        <p:spPr>
          <a:xfrm>
            <a:off x="1467429" y="2390973"/>
            <a:ext cx="247254" cy="247254"/>
          </a:xfrm>
          <a:prstGeom prst="rect">
            <a:avLst/>
          </a:prstGeom>
        </p:spPr>
      </p:pic>
      <p:sp>
        <p:nvSpPr>
          <p:cNvPr id="15" name="Text 12"/>
          <p:cNvSpPr txBox="1"/>
          <p:nvPr/>
        </p:nvSpPr>
        <p:spPr>
          <a:xfrm>
            <a:off x="621792" y="2807208"/>
            <a:ext cx="1938528" cy="310896"/>
          </a:xfrm>
          <a:prstGeom prst="rect">
            <a:avLst/>
          </a:prstGeom>
          <a:noFill/>
          <a:ln/>
        </p:spPr>
        <p:txBody>
          <a:bodyPr wrap="square" lIns="0" tIns="0" rIns="0" bIns="0" rtlCol="0" anchor="ctr"/>
          <a:lstStyle/>
          <a:p>
            <a:pPr marL="0" indent="0" algn="ctr">
              <a:lnSpc>
                <a:spcPts val="1250"/>
              </a:lnSpc>
              <a:buNone/>
            </a:pPr>
            <a:r>
              <a:rPr lang="en-US" sz="1150" b="1" dirty="0">
                <a:solidFill>
                  <a:srgbClr val="1E1F24"/>
                </a:solidFill>
                <a:latin typeface="Calibri" pitchFamily="34" charset="0"/>
                <a:ea typeface="Calibri" pitchFamily="34" charset="-122"/>
                <a:cs typeface="Calibri" pitchFamily="34" charset="-120"/>
              </a:rPr>
              <a:t>Complex to use</a:t>
            </a:r>
            <a:endParaRPr lang="en-US" sz="1150" dirty="0"/>
          </a:p>
        </p:txBody>
      </p:sp>
      <p:sp>
        <p:nvSpPr>
          <p:cNvPr id="16" name="Text 13"/>
          <p:cNvSpPr txBox="1"/>
          <p:nvPr/>
        </p:nvSpPr>
        <p:spPr>
          <a:xfrm>
            <a:off x="640080" y="3118104"/>
            <a:ext cx="1901952" cy="411480"/>
          </a:xfrm>
          <a:prstGeom prst="rect">
            <a:avLst/>
          </a:prstGeom>
          <a:noFill/>
          <a:ln/>
        </p:spPr>
        <p:txBody>
          <a:bodyPr wrap="square" lIns="0" tIns="0" rIns="0" bIns="0" rtlCol="0" anchor="ctr"/>
          <a:lstStyle/>
          <a:p>
            <a:pPr marL="0" indent="0" algn="ctr">
              <a:lnSpc>
                <a:spcPts val="1100"/>
              </a:lnSpc>
              <a:buNone/>
            </a:pPr>
            <a:r>
              <a:rPr lang="en-US" sz="900" dirty="0">
                <a:solidFill>
                  <a:srgbClr val="6B6F76"/>
                </a:solidFill>
                <a:latin typeface="Calibri" pitchFamily="34" charset="0"/>
                <a:ea typeface="Calibri" pitchFamily="34" charset="-122"/>
                <a:cs typeface="Calibri" pitchFamily="34" charset="-120"/>
              </a:rPr>
              <a:t>Steep learning curve for small teams.</a:t>
            </a:r>
            <a:endParaRPr lang="en-US" sz="900" dirty="0"/>
          </a:p>
        </p:txBody>
      </p:sp>
      <p:sp>
        <p:nvSpPr>
          <p:cNvPr id="17" name="Shape 14"/>
          <p:cNvSpPr/>
          <p:nvPr/>
        </p:nvSpPr>
        <p:spPr>
          <a:xfrm>
            <a:off x="2761488" y="2148840"/>
            <a:ext cx="2084832" cy="1417320"/>
          </a:xfrm>
          <a:prstGeom prst="roundRect">
            <a:avLst>
              <a:gd name="adj" fmla="val 6452"/>
            </a:avLst>
          </a:prstGeom>
          <a:solidFill>
            <a:srgbClr val="F3F3F5"/>
          </a:solidFill>
          <a:ln/>
        </p:spPr>
      </p:sp>
      <p:sp>
        <p:nvSpPr>
          <p:cNvPr id="18" name="Shape 15"/>
          <p:cNvSpPr/>
          <p:nvPr/>
        </p:nvSpPr>
        <p:spPr>
          <a:xfrm>
            <a:off x="3566160" y="2276856"/>
            <a:ext cx="475488" cy="475488"/>
          </a:xfrm>
          <a:prstGeom prst="ellipse">
            <a:avLst/>
          </a:prstGeom>
          <a:solidFill>
            <a:srgbClr val="34363C"/>
          </a:solidFill>
          <a:ln/>
        </p:spPr>
      </p:sp>
      <p:pic>
        <p:nvPicPr>
          <p:cNvPr id="19" name="Image 1" descr="/home/claude/ppt/icons/money.png"/>
          <p:cNvPicPr>
            <a:picLocks noChangeAspect="1"/>
          </p:cNvPicPr>
          <p:nvPr/>
        </p:nvPicPr>
        <p:blipFill>
          <a:blip r:embed="rId4"/>
          <a:stretch>
            <a:fillRect/>
          </a:stretch>
        </p:blipFill>
        <p:spPr>
          <a:xfrm>
            <a:off x="3680277" y="2390973"/>
            <a:ext cx="247254" cy="247254"/>
          </a:xfrm>
          <a:prstGeom prst="rect">
            <a:avLst/>
          </a:prstGeom>
        </p:spPr>
      </p:pic>
      <p:sp>
        <p:nvSpPr>
          <p:cNvPr id="20" name="Text 16"/>
          <p:cNvSpPr txBox="1"/>
          <p:nvPr/>
        </p:nvSpPr>
        <p:spPr>
          <a:xfrm>
            <a:off x="2834640" y="2807208"/>
            <a:ext cx="1938528" cy="310896"/>
          </a:xfrm>
          <a:prstGeom prst="rect">
            <a:avLst/>
          </a:prstGeom>
          <a:noFill/>
          <a:ln/>
        </p:spPr>
        <p:txBody>
          <a:bodyPr wrap="square" lIns="0" tIns="0" rIns="0" bIns="0" rtlCol="0" anchor="ctr"/>
          <a:lstStyle/>
          <a:p>
            <a:pPr marL="0" indent="0" algn="ctr">
              <a:lnSpc>
                <a:spcPts val="1250"/>
              </a:lnSpc>
              <a:buNone/>
            </a:pPr>
            <a:r>
              <a:rPr lang="en-US" sz="1150" b="1" dirty="0">
                <a:solidFill>
                  <a:srgbClr val="1E1F24"/>
                </a:solidFill>
                <a:latin typeface="Calibri" pitchFamily="34" charset="0"/>
                <a:ea typeface="Calibri" pitchFamily="34" charset="-122"/>
                <a:cs typeface="Calibri" pitchFamily="34" charset="-120"/>
              </a:rPr>
              <a:t>Expensive</a:t>
            </a:r>
            <a:endParaRPr lang="en-US" sz="1150" dirty="0"/>
          </a:p>
        </p:txBody>
      </p:sp>
      <p:sp>
        <p:nvSpPr>
          <p:cNvPr id="21" name="Text 17"/>
          <p:cNvSpPr txBox="1"/>
          <p:nvPr/>
        </p:nvSpPr>
        <p:spPr>
          <a:xfrm>
            <a:off x="2852928" y="3118104"/>
            <a:ext cx="1901952" cy="411480"/>
          </a:xfrm>
          <a:prstGeom prst="rect">
            <a:avLst/>
          </a:prstGeom>
          <a:noFill/>
          <a:ln/>
        </p:spPr>
        <p:txBody>
          <a:bodyPr wrap="square" lIns="0" tIns="0" rIns="0" bIns="0" rtlCol="0" anchor="ctr"/>
          <a:lstStyle/>
          <a:p>
            <a:pPr marL="0" indent="0" algn="ctr">
              <a:lnSpc>
                <a:spcPts val="1100"/>
              </a:lnSpc>
              <a:buNone/>
            </a:pPr>
            <a:r>
              <a:rPr lang="en-US" sz="900" dirty="0">
                <a:solidFill>
                  <a:srgbClr val="6B6F76"/>
                </a:solidFill>
                <a:latin typeface="Calibri" pitchFamily="34" charset="0"/>
                <a:ea typeface="Calibri" pitchFamily="34" charset="-122"/>
                <a:cs typeface="Calibri" pitchFamily="34" charset="-120"/>
              </a:rPr>
              <a:t>Licensing costs scale with team size.</a:t>
            </a:r>
            <a:endParaRPr lang="en-US" sz="900" dirty="0"/>
          </a:p>
        </p:txBody>
      </p:sp>
      <p:sp>
        <p:nvSpPr>
          <p:cNvPr id="22" name="Shape 18"/>
          <p:cNvSpPr/>
          <p:nvPr/>
        </p:nvSpPr>
        <p:spPr>
          <a:xfrm>
            <a:off x="4974336" y="2148840"/>
            <a:ext cx="2084832" cy="1417320"/>
          </a:xfrm>
          <a:prstGeom prst="roundRect">
            <a:avLst>
              <a:gd name="adj" fmla="val 6452"/>
            </a:avLst>
          </a:prstGeom>
          <a:solidFill>
            <a:srgbClr val="F3F3F5"/>
          </a:solidFill>
          <a:ln/>
        </p:spPr>
      </p:sp>
      <p:sp>
        <p:nvSpPr>
          <p:cNvPr id="23" name="Shape 19"/>
          <p:cNvSpPr/>
          <p:nvPr/>
        </p:nvSpPr>
        <p:spPr>
          <a:xfrm>
            <a:off x="5779008" y="2276856"/>
            <a:ext cx="475488" cy="475488"/>
          </a:xfrm>
          <a:prstGeom prst="ellipse">
            <a:avLst/>
          </a:prstGeom>
          <a:solidFill>
            <a:srgbClr val="34363C"/>
          </a:solidFill>
          <a:ln/>
        </p:spPr>
      </p:sp>
      <p:pic>
        <p:nvPicPr>
          <p:cNvPr id="24" name="Image 2" descr="/home/claude/ppt/icons/reactive.png"/>
          <p:cNvPicPr>
            <a:picLocks noChangeAspect="1"/>
          </p:cNvPicPr>
          <p:nvPr/>
        </p:nvPicPr>
        <p:blipFill>
          <a:blip r:embed="rId5"/>
          <a:stretch>
            <a:fillRect/>
          </a:stretch>
        </p:blipFill>
        <p:spPr>
          <a:xfrm>
            <a:off x="5893125" y="2390973"/>
            <a:ext cx="247254" cy="247254"/>
          </a:xfrm>
          <a:prstGeom prst="rect">
            <a:avLst/>
          </a:prstGeom>
        </p:spPr>
      </p:pic>
      <p:sp>
        <p:nvSpPr>
          <p:cNvPr id="25" name="Text 20"/>
          <p:cNvSpPr txBox="1"/>
          <p:nvPr/>
        </p:nvSpPr>
        <p:spPr>
          <a:xfrm>
            <a:off x="5047488" y="2807208"/>
            <a:ext cx="1938528" cy="310896"/>
          </a:xfrm>
          <a:prstGeom prst="rect">
            <a:avLst/>
          </a:prstGeom>
          <a:noFill/>
          <a:ln/>
        </p:spPr>
        <p:txBody>
          <a:bodyPr wrap="square" lIns="0" tIns="0" rIns="0" bIns="0" rtlCol="0" anchor="ctr"/>
          <a:lstStyle/>
          <a:p>
            <a:pPr marL="0" indent="0" algn="ctr">
              <a:lnSpc>
                <a:spcPts val="1250"/>
              </a:lnSpc>
              <a:buNone/>
            </a:pPr>
            <a:r>
              <a:rPr lang="en-US" sz="1150" b="1" dirty="0">
                <a:solidFill>
                  <a:srgbClr val="1E1F24"/>
                </a:solidFill>
                <a:latin typeface="Calibri" pitchFamily="34" charset="0"/>
                <a:ea typeface="Calibri" pitchFamily="34" charset="-122"/>
                <a:cs typeface="Calibri" pitchFamily="34" charset="-120"/>
              </a:rPr>
              <a:t>Mostly reactive</a:t>
            </a:r>
            <a:endParaRPr lang="en-US" sz="1150" dirty="0"/>
          </a:p>
        </p:txBody>
      </p:sp>
      <p:sp>
        <p:nvSpPr>
          <p:cNvPr id="26" name="Text 21"/>
          <p:cNvSpPr txBox="1"/>
          <p:nvPr/>
        </p:nvSpPr>
        <p:spPr>
          <a:xfrm>
            <a:off x="5065776" y="3118104"/>
            <a:ext cx="1901952" cy="411480"/>
          </a:xfrm>
          <a:prstGeom prst="rect">
            <a:avLst/>
          </a:prstGeom>
          <a:noFill/>
          <a:ln/>
        </p:spPr>
        <p:txBody>
          <a:bodyPr wrap="square" lIns="0" tIns="0" rIns="0" bIns="0" rtlCol="0" anchor="ctr"/>
          <a:lstStyle/>
          <a:p>
            <a:pPr marL="0" indent="0" algn="ctr">
              <a:lnSpc>
                <a:spcPts val="1100"/>
              </a:lnSpc>
              <a:buNone/>
            </a:pPr>
            <a:r>
              <a:rPr lang="en-US" sz="900" dirty="0">
                <a:solidFill>
                  <a:srgbClr val="6B6F76"/>
                </a:solidFill>
                <a:latin typeface="Calibri" pitchFamily="34" charset="0"/>
                <a:ea typeface="Calibri" pitchFamily="34" charset="-122"/>
                <a:cs typeface="Calibri" pitchFamily="34" charset="-120"/>
              </a:rPr>
              <a:t>Acts only after a failure occurs.</a:t>
            </a:r>
            <a:endParaRPr lang="en-US" sz="900" dirty="0"/>
          </a:p>
        </p:txBody>
      </p:sp>
      <p:sp>
        <p:nvSpPr>
          <p:cNvPr id="27" name="Shape 22"/>
          <p:cNvSpPr/>
          <p:nvPr/>
        </p:nvSpPr>
        <p:spPr>
          <a:xfrm>
            <a:off x="7187184" y="2148840"/>
            <a:ext cx="2084832" cy="1417320"/>
          </a:xfrm>
          <a:prstGeom prst="roundRect">
            <a:avLst>
              <a:gd name="adj" fmla="val 6452"/>
            </a:avLst>
          </a:prstGeom>
          <a:solidFill>
            <a:srgbClr val="F3F3F5"/>
          </a:solidFill>
          <a:ln/>
        </p:spPr>
      </p:sp>
      <p:sp>
        <p:nvSpPr>
          <p:cNvPr id="28" name="Shape 23"/>
          <p:cNvSpPr/>
          <p:nvPr/>
        </p:nvSpPr>
        <p:spPr>
          <a:xfrm>
            <a:off x="7991856" y="2276856"/>
            <a:ext cx="475488" cy="475488"/>
          </a:xfrm>
          <a:prstGeom prst="ellipse">
            <a:avLst/>
          </a:prstGeom>
          <a:solidFill>
            <a:srgbClr val="34363C"/>
          </a:solidFill>
          <a:ln/>
        </p:spPr>
      </p:sp>
      <p:pic>
        <p:nvPicPr>
          <p:cNvPr id="29" name="Image 3" descr="/home/claude/ppt/icons/shield.png"/>
          <p:cNvPicPr>
            <a:picLocks noChangeAspect="1"/>
          </p:cNvPicPr>
          <p:nvPr/>
        </p:nvPicPr>
        <p:blipFill>
          <a:blip r:embed="rId6"/>
          <a:stretch>
            <a:fillRect/>
          </a:stretch>
        </p:blipFill>
        <p:spPr>
          <a:xfrm>
            <a:off x="8105973" y="2390973"/>
            <a:ext cx="247254" cy="247254"/>
          </a:xfrm>
          <a:prstGeom prst="rect">
            <a:avLst/>
          </a:prstGeom>
        </p:spPr>
      </p:pic>
      <p:sp>
        <p:nvSpPr>
          <p:cNvPr id="30" name="Text 24"/>
          <p:cNvSpPr txBox="1"/>
          <p:nvPr/>
        </p:nvSpPr>
        <p:spPr>
          <a:xfrm>
            <a:off x="7260336" y="2807208"/>
            <a:ext cx="1938528" cy="310896"/>
          </a:xfrm>
          <a:prstGeom prst="rect">
            <a:avLst/>
          </a:prstGeom>
          <a:noFill/>
          <a:ln/>
        </p:spPr>
        <p:txBody>
          <a:bodyPr wrap="square" lIns="0" tIns="0" rIns="0" bIns="0" rtlCol="0" anchor="ctr"/>
          <a:lstStyle/>
          <a:p>
            <a:pPr marL="0" indent="0" algn="ctr">
              <a:lnSpc>
                <a:spcPts val="1250"/>
              </a:lnSpc>
              <a:buNone/>
            </a:pPr>
            <a:r>
              <a:rPr lang="en-US" sz="1150" b="1" dirty="0">
                <a:solidFill>
                  <a:srgbClr val="1E1F24"/>
                </a:solidFill>
                <a:latin typeface="Calibri" pitchFamily="34" charset="0"/>
                <a:ea typeface="Calibri" pitchFamily="34" charset="-122"/>
                <a:cs typeface="Calibri" pitchFamily="34" charset="-120"/>
              </a:rPr>
              <a:t>Limited auto-fixing</a:t>
            </a:r>
            <a:endParaRPr lang="en-US" sz="1150" dirty="0"/>
          </a:p>
        </p:txBody>
      </p:sp>
      <p:sp>
        <p:nvSpPr>
          <p:cNvPr id="31" name="Text 25"/>
          <p:cNvSpPr txBox="1"/>
          <p:nvPr/>
        </p:nvSpPr>
        <p:spPr>
          <a:xfrm>
            <a:off x="7278624" y="3118104"/>
            <a:ext cx="1901952" cy="411480"/>
          </a:xfrm>
          <a:prstGeom prst="rect">
            <a:avLst/>
          </a:prstGeom>
          <a:noFill/>
          <a:ln/>
        </p:spPr>
        <p:txBody>
          <a:bodyPr wrap="square" lIns="0" tIns="0" rIns="0" bIns="0" rtlCol="0" anchor="ctr"/>
          <a:lstStyle/>
          <a:p>
            <a:pPr marL="0" indent="0" algn="ctr">
              <a:lnSpc>
                <a:spcPts val="1100"/>
              </a:lnSpc>
              <a:buNone/>
            </a:pPr>
            <a:r>
              <a:rPr lang="en-US" sz="900" dirty="0">
                <a:solidFill>
                  <a:srgbClr val="6B6F76"/>
                </a:solidFill>
                <a:latin typeface="Calibri" pitchFamily="34" charset="0"/>
                <a:ea typeface="Calibri" pitchFamily="34" charset="-122"/>
                <a:cs typeface="Calibri" pitchFamily="34" charset="-120"/>
              </a:rPr>
              <a:t>Mostly alerts; rarely resolves issues.</a:t>
            </a:r>
            <a:endParaRPr lang="en-US" sz="900" dirty="0"/>
          </a:p>
        </p:txBody>
      </p:sp>
      <p:sp>
        <p:nvSpPr>
          <p:cNvPr id="32" name="Shape 26"/>
          <p:cNvSpPr/>
          <p:nvPr/>
        </p:nvSpPr>
        <p:spPr>
          <a:xfrm>
            <a:off x="9400032" y="2148840"/>
            <a:ext cx="2084832" cy="1417320"/>
          </a:xfrm>
          <a:prstGeom prst="roundRect">
            <a:avLst>
              <a:gd name="adj" fmla="val 6452"/>
            </a:avLst>
          </a:prstGeom>
          <a:solidFill>
            <a:srgbClr val="F3F3F5"/>
          </a:solidFill>
          <a:ln/>
        </p:spPr>
      </p:sp>
      <p:sp>
        <p:nvSpPr>
          <p:cNvPr id="33" name="Shape 27"/>
          <p:cNvSpPr/>
          <p:nvPr/>
        </p:nvSpPr>
        <p:spPr>
          <a:xfrm>
            <a:off x="10204704" y="2276856"/>
            <a:ext cx="475488" cy="475488"/>
          </a:xfrm>
          <a:prstGeom prst="ellipse">
            <a:avLst/>
          </a:prstGeom>
          <a:solidFill>
            <a:srgbClr val="34363C"/>
          </a:solidFill>
          <a:ln/>
        </p:spPr>
      </p:sp>
      <p:pic>
        <p:nvPicPr>
          <p:cNvPr id="34" name="Image 4" descr="/home/claude/ppt/icons/alert.png"/>
          <p:cNvPicPr>
            <a:picLocks noChangeAspect="1"/>
          </p:cNvPicPr>
          <p:nvPr/>
        </p:nvPicPr>
        <p:blipFill>
          <a:blip r:embed="rId7"/>
          <a:stretch>
            <a:fillRect/>
          </a:stretch>
        </p:blipFill>
        <p:spPr>
          <a:xfrm>
            <a:off x="10318821" y="2390973"/>
            <a:ext cx="247254" cy="247254"/>
          </a:xfrm>
          <a:prstGeom prst="rect">
            <a:avLst/>
          </a:prstGeom>
        </p:spPr>
      </p:pic>
      <p:sp>
        <p:nvSpPr>
          <p:cNvPr id="35" name="Text 28"/>
          <p:cNvSpPr txBox="1"/>
          <p:nvPr/>
        </p:nvSpPr>
        <p:spPr>
          <a:xfrm>
            <a:off x="9473184" y="2807208"/>
            <a:ext cx="1938528" cy="310896"/>
          </a:xfrm>
          <a:prstGeom prst="rect">
            <a:avLst/>
          </a:prstGeom>
          <a:noFill/>
          <a:ln/>
        </p:spPr>
        <p:txBody>
          <a:bodyPr wrap="square" lIns="0" tIns="0" rIns="0" bIns="0" rtlCol="0" anchor="ctr"/>
          <a:lstStyle/>
          <a:p>
            <a:pPr marL="0" indent="0" algn="ctr">
              <a:lnSpc>
                <a:spcPts val="1250"/>
              </a:lnSpc>
              <a:buNone/>
            </a:pPr>
            <a:r>
              <a:rPr lang="en-US" sz="1150" b="1" dirty="0">
                <a:solidFill>
                  <a:srgbClr val="1E1F24"/>
                </a:solidFill>
                <a:latin typeface="Calibri" pitchFamily="34" charset="0"/>
                <a:ea typeface="Calibri" pitchFamily="34" charset="-122"/>
                <a:cs typeface="Calibri" pitchFamily="34" charset="-120"/>
              </a:rPr>
              <a:t>Alert noise</a:t>
            </a:r>
            <a:endParaRPr lang="en-US" sz="1150" dirty="0"/>
          </a:p>
        </p:txBody>
      </p:sp>
      <p:sp>
        <p:nvSpPr>
          <p:cNvPr id="36" name="Text 29"/>
          <p:cNvSpPr txBox="1"/>
          <p:nvPr/>
        </p:nvSpPr>
        <p:spPr>
          <a:xfrm>
            <a:off x="9491472" y="3118104"/>
            <a:ext cx="1901952" cy="411480"/>
          </a:xfrm>
          <a:prstGeom prst="rect">
            <a:avLst/>
          </a:prstGeom>
          <a:noFill/>
          <a:ln/>
        </p:spPr>
        <p:txBody>
          <a:bodyPr wrap="square" lIns="0" tIns="0" rIns="0" bIns="0" rtlCol="0" anchor="ctr"/>
          <a:lstStyle/>
          <a:p>
            <a:pPr marL="0" indent="0" algn="ctr">
              <a:lnSpc>
                <a:spcPts val="1100"/>
              </a:lnSpc>
              <a:buNone/>
            </a:pPr>
            <a:r>
              <a:rPr lang="en-US" sz="900" dirty="0">
                <a:solidFill>
                  <a:srgbClr val="6B6F76"/>
                </a:solidFill>
                <a:latin typeface="Calibri" pitchFamily="34" charset="0"/>
                <a:ea typeface="Calibri" pitchFamily="34" charset="-122"/>
                <a:cs typeface="Calibri" pitchFamily="34" charset="-120"/>
              </a:rPr>
              <a:t>Floods engineers with duplicate pages.</a:t>
            </a:r>
            <a:endParaRPr lang="en-US" sz="900" dirty="0"/>
          </a:p>
        </p:txBody>
      </p:sp>
      <p:sp>
        <p:nvSpPr>
          <p:cNvPr id="37" name="Text 30"/>
          <p:cNvSpPr txBox="1"/>
          <p:nvPr/>
        </p:nvSpPr>
        <p:spPr>
          <a:xfrm>
            <a:off x="548640" y="3794760"/>
            <a:ext cx="7315200" cy="320040"/>
          </a:xfrm>
          <a:prstGeom prst="rect">
            <a:avLst/>
          </a:prstGeom>
          <a:noFill/>
          <a:ln/>
        </p:spPr>
        <p:txBody>
          <a:bodyPr wrap="square" rtlCol="0" anchor="ctr"/>
          <a:lstStyle/>
          <a:p>
            <a:pPr marL="0" indent="0">
              <a:buNone/>
            </a:pPr>
            <a:r>
              <a:rPr lang="en-US" sz="1450" b="1" dirty="0">
                <a:solidFill>
                  <a:srgbClr val="1E1F24"/>
                </a:solidFill>
                <a:latin typeface="Calibri" pitchFamily="34" charset="0"/>
                <a:ea typeface="Calibri" pitchFamily="34" charset="-122"/>
                <a:cs typeface="Calibri" pitchFamily="34" charset="-120"/>
              </a:rPr>
              <a:t>How our project improves on this</a:t>
            </a:r>
            <a:endParaRPr lang="en-US" sz="1450" dirty="0"/>
          </a:p>
        </p:txBody>
      </p:sp>
      <p:sp>
        <p:nvSpPr>
          <p:cNvPr id="38" name="Shape 31"/>
          <p:cNvSpPr/>
          <p:nvPr/>
        </p:nvSpPr>
        <p:spPr>
          <a:xfrm>
            <a:off x="548640" y="4096512"/>
            <a:ext cx="11064240" cy="640080"/>
          </a:xfrm>
          <a:prstGeom prst="roundRect">
            <a:avLst>
              <a:gd name="adj" fmla="val 12857"/>
            </a:avLst>
          </a:prstGeom>
          <a:solidFill>
            <a:srgbClr val="F3F3F5"/>
          </a:solidFill>
          <a:ln/>
        </p:spPr>
      </p:sp>
      <p:sp>
        <p:nvSpPr>
          <p:cNvPr id="39" name="Text 32"/>
          <p:cNvSpPr txBox="1"/>
          <p:nvPr/>
        </p:nvSpPr>
        <p:spPr>
          <a:xfrm>
            <a:off x="822960" y="4096512"/>
            <a:ext cx="4114800" cy="640080"/>
          </a:xfrm>
          <a:prstGeom prst="rect">
            <a:avLst/>
          </a:prstGeom>
          <a:noFill/>
          <a:ln/>
        </p:spPr>
        <p:txBody>
          <a:bodyPr wrap="square" lIns="0" tIns="0" rIns="0" bIns="0" rtlCol="0" anchor="ctr"/>
          <a:lstStyle/>
          <a:p>
            <a:pPr marL="0" indent="0">
              <a:buNone/>
            </a:pPr>
            <a:r>
              <a:rPr lang="en-US" sz="1250" dirty="0">
                <a:solidFill>
                  <a:srgbClr val="6B6F76"/>
                </a:solidFill>
                <a:latin typeface="Calibri" pitchFamily="34" charset="0"/>
                <a:ea typeface="Calibri" pitchFamily="34" charset="-122"/>
                <a:cs typeface="Calibri" pitchFamily="34" charset="-120"/>
              </a:rPr>
              <a:t>They manage alerts</a:t>
            </a:r>
            <a:endParaRPr lang="en-US" sz="1250" dirty="0"/>
          </a:p>
        </p:txBody>
      </p:sp>
      <p:pic>
        <p:nvPicPr>
          <p:cNvPr id="40" name="Image 5" descr="/home/claude/ppt/icons/compare.png"/>
          <p:cNvPicPr>
            <a:picLocks noChangeAspect="1"/>
          </p:cNvPicPr>
          <p:nvPr/>
        </p:nvPicPr>
        <p:blipFill>
          <a:blip r:embed="rId8"/>
          <a:stretch>
            <a:fillRect/>
          </a:stretch>
        </p:blipFill>
        <p:spPr>
          <a:xfrm>
            <a:off x="5120640" y="4261104"/>
            <a:ext cx="310896" cy="310896"/>
          </a:xfrm>
          <a:prstGeom prst="rect">
            <a:avLst/>
          </a:prstGeom>
        </p:spPr>
      </p:pic>
      <p:sp>
        <p:nvSpPr>
          <p:cNvPr id="41" name="Text 33"/>
          <p:cNvSpPr txBox="1"/>
          <p:nvPr/>
        </p:nvSpPr>
        <p:spPr>
          <a:xfrm>
            <a:off x="5669280" y="4096512"/>
            <a:ext cx="5760720" cy="640080"/>
          </a:xfrm>
          <a:prstGeom prst="rect">
            <a:avLst/>
          </a:prstGeom>
          <a:noFill/>
          <a:ln/>
        </p:spPr>
        <p:txBody>
          <a:bodyPr wrap="square" lIns="0" tIns="0" rIns="0" bIns="0" rtlCol="0" anchor="ctr"/>
          <a:lstStyle/>
          <a:p>
            <a:pPr marL="0" indent="0">
              <a:lnSpc>
                <a:spcPts val="1500"/>
              </a:lnSpc>
              <a:buNone/>
            </a:pPr>
            <a:r>
              <a:rPr lang="en-US" sz="1250" b="1" dirty="0">
                <a:solidFill>
                  <a:srgbClr val="1E1F24"/>
                </a:solidFill>
                <a:latin typeface="Calibri" pitchFamily="34" charset="0"/>
                <a:ea typeface="Calibri" pitchFamily="34" charset="-122"/>
                <a:cs typeface="Calibri" pitchFamily="34" charset="-120"/>
              </a:rPr>
              <a:t>We reduce alerts through automatic correlation and deduplication.</a:t>
            </a:r>
            <a:endParaRPr lang="en-US" sz="1250" dirty="0"/>
          </a:p>
        </p:txBody>
      </p:sp>
      <p:sp>
        <p:nvSpPr>
          <p:cNvPr id="42" name="Shape 34"/>
          <p:cNvSpPr/>
          <p:nvPr/>
        </p:nvSpPr>
        <p:spPr>
          <a:xfrm>
            <a:off x="548640" y="4828032"/>
            <a:ext cx="11064240" cy="640080"/>
          </a:xfrm>
          <a:prstGeom prst="roundRect">
            <a:avLst>
              <a:gd name="adj" fmla="val 12857"/>
            </a:avLst>
          </a:prstGeom>
          <a:solidFill>
            <a:srgbClr val="F3F3F5"/>
          </a:solidFill>
          <a:ln/>
        </p:spPr>
      </p:sp>
      <p:sp>
        <p:nvSpPr>
          <p:cNvPr id="43" name="Text 35"/>
          <p:cNvSpPr txBox="1"/>
          <p:nvPr/>
        </p:nvSpPr>
        <p:spPr>
          <a:xfrm>
            <a:off x="822960" y="4828032"/>
            <a:ext cx="4114800" cy="640080"/>
          </a:xfrm>
          <a:prstGeom prst="rect">
            <a:avLst/>
          </a:prstGeom>
          <a:noFill/>
          <a:ln/>
        </p:spPr>
        <p:txBody>
          <a:bodyPr wrap="square" lIns="0" tIns="0" rIns="0" bIns="0" rtlCol="0" anchor="ctr"/>
          <a:lstStyle/>
          <a:p>
            <a:pPr marL="0" indent="0">
              <a:buNone/>
            </a:pPr>
            <a:r>
              <a:rPr lang="en-US" sz="1250" dirty="0">
                <a:solidFill>
                  <a:srgbClr val="6B6F76"/>
                </a:solidFill>
                <a:latin typeface="Calibri" pitchFamily="34" charset="0"/>
                <a:ea typeface="Calibri" pitchFamily="34" charset="-122"/>
                <a:cs typeface="Calibri" pitchFamily="34" charset="-120"/>
              </a:rPr>
              <a:t>They notify users</a:t>
            </a:r>
            <a:endParaRPr lang="en-US" sz="1250" dirty="0"/>
          </a:p>
        </p:txBody>
      </p:sp>
      <p:pic>
        <p:nvPicPr>
          <p:cNvPr id="44" name="Image 6" descr="/home/claude/ppt/icons/compare.png"/>
          <p:cNvPicPr>
            <a:picLocks noChangeAspect="1"/>
          </p:cNvPicPr>
          <p:nvPr/>
        </p:nvPicPr>
        <p:blipFill>
          <a:blip r:embed="rId8"/>
          <a:stretch>
            <a:fillRect/>
          </a:stretch>
        </p:blipFill>
        <p:spPr>
          <a:xfrm>
            <a:off x="5120640" y="4992624"/>
            <a:ext cx="310896" cy="310896"/>
          </a:xfrm>
          <a:prstGeom prst="rect">
            <a:avLst/>
          </a:prstGeom>
        </p:spPr>
      </p:pic>
      <p:sp>
        <p:nvSpPr>
          <p:cNvPr id="45" name="Text 36"/>
          <p:cNvSpPr txBox="1"/>
          <p:nvPr/>
        </p:nvSpPr>
        <p:spPr>
          <a:xfrm>
            <a:off x="5669280" y="4828032"/>
            <a:ext cx="5760720" cy="640080"/>
          </a:xfrm>
          <a:prstGeom prst="rect">
            <a:avLst/>
          </a:prstGeom>
          <a:noFill/>
          <a:ln/>
        </p:spPr>
        <p:txBody>
          <a:bodyPr wrap="square" lIns="0" tIns="0" rIns="0" bIns="0" rtlCol="0" anchor="ctr"/>
          <a:lstStyle/>
          <a:p>
            <a:pPr marL="0" indent="0">
              <a:lnSpc>
                <a:spcPts val="1500"/>
              </a:lnSpc>
              <a:buNone/>
            </a:pPr>
            <a:r>
              <a:rPr lang="en-US" sz="1250" b="1" dirty="0">
                <a:solidFill>
                  <a:srgbClr val="1E1F24"/>
                </a:solidFill>
                <a:latin typeface="Calibri" pitchFamily="34" charset="0"/>
                <a:ea typeface="Calibri" pitchFamily="34" charset="-122"/>
                <a:cs typeface="Calibri" pitchFamily="34" charset="-120"/>
              </a:rPr>
              <a:t>We auto-assign incidents straight to the right engineer.</a:t>
            </a:r>
            <a:endParaRPr lang="en-US" sz="1250" dirty="0"/>
          </a:p>
        </p:txBody>
      </p:sp>
      <p:sp>
        <p:nvSpPr>
          <p:cNvPr id="46" name="Shape 37"/>
          <p:cNvSpPr/>
          <p:nvPr/>
        </p:nvSpPr>
        <p:spPr>
          <a:xfrm>
            <a:off x="548640" y="5559552"/>
            <a:ext cx="11064240" cy="640080"/>
          </a:xfrm>
          <a:prstGeom prst="roundRect">
            <a:avLst>
              <a:gd name="adj" fmla="val 12857"/>
            </a:avLst>
          </a:prstGeom>
          <a:solidFill>
            <a:srgbClr val="F3F3F5"/>
          </a:solidFill>
          <a:ln/>
        </p:spPr>
      </p:sp>
      <p:sp>
        <p:nvSpPr>
          <p:cNvPr id="47" name="Text 38"/>
          <p:cNvSpPr txBox="1"/>
          <p:nvPr/>
        </p:nvSpPr>
        <p:spPr>
          <a:xfrm>
            <a:off x="822960" y="5559552"/>
            <a:ext cx="4114800" cy="640080"/>
          </a:xfrm>
          <a:prstGeom prst="rect">
            <a:avLst/>
          </a:prstGeom>
          <a:noFill/>
          <a:ln/>
        </p:spPr>
        <p:txBody>
          <a:bodyPr wrap="square" lIns="0" tIns="0" rIns="0" bIns="0" rtlCol="0" anchor="ctr"/>
          <a:lstStyle/>
          <a:p>
            <a:pPr marL="0" indent="0">
              <a:buNone/>
            </a:pPr>
            <a:r>
              <a:rPr lang="en-US" sz="1250" dirty="0">
                <a:solidFill>
                  <a:srgbClr val="6B6F76"/>
                </a:solidFill>
                <a:latin typeface="Calibri" pitchFamily="34" charset="0"/>
                <a:ea typeface="Calibri" pitchFamily="34" charset="-122"/>
                <a:cs typeface="Calibri" pitchFamily="34" charset="-120"/>
              </a:rPr>
              <a:t>They track issues</a:t>
            </a:r>
            <a:endParaRPr lang="en-US" sz="1250" dirty="0"/>
          </a:p>
        </p:txBody>
      </p:sp>
      <p:pic>
        <p:nvPicPr>
          <p:cNvPr id="48" name="Image 7" descr="/home/claude/ppt/icons/compare.png"/>
          <p:cNvPicPr>
            <a:picLocks noChangeAspect="1"/>
          </p:cNvPicPr>
          <p:nvPr/>
        </p:nvPicPr>
        <p:blipFill>
          <a:blip r:embed="rId8"/>
          <a:stretch>
            <a:fillRect/>
          </a:stretch>
        </p:blipFill>
        <p:spPr>
          <a:xfrm>
            <a:off x="5120640" y="5724144"/>
            <a:ext cx="310896" cy="310896"/>
          </a:xfrm>
          <a:prstGeom prst="rect">
            <a:avLst/>
          </a:prstGeom>
        </p:spPr>
      </p:pic>
      <p:sp>
        <p:nvSpPr>
          <p:cNvPr id="49" name="Text 39"/>
          <p:cNvSpPr txBox="1"/>
          <p:nvPr/>
        </p:nvSpPr>
        <p:spPr>
          <a:xfrm>
            <a:off x="5669280" y="5559552"/>
            <a:ext cx="5760720" cy="640080"/>
          </a:xfrm>
          <a:prstGeom prst="rect">
            <a:avLst/>
          </a:prstGeom>
          <a:noFill/>
          <a:ln/>
        </p:spPr>
        <p:txBody>
          <a:bodyPr wrap="square" lIns="0" tIns="0" rIns="0" bIns="0" rtlCol="0" anchor="ctr"/>
          <a:lstStyle/>
          <a:p>
            <a:pPr marL="0" indent="0">
              <a:lnSpc>
                <a:spcPts val="1500"/>
              </a:lnSpc>
              <a:buNone/>
            </a:pPr>
            <a:r>
              <a:rPr lang="en-US" sz="1250" b="1" dirty="0">
                <a:solidFill>
                  <a:srgbClr val="1E1F24"/>
                </a:solidFill>
                <a:latin typeface="Calibri" pitchFamily="34" charset="0"/>
                <a:ea typeface="Calibri" pitchFamily="34" charset="-122"/>
                <a:cs typeface="Calibri" pitchFamily="34" charset="-120"/>
              </a:rPr>
              <a:t>We go further with suggested fixes and safe auto-remediation.</a:t>
            </a:r>
            <a:endParaRPr lang="en-US" sz="1250" dirty="0"/>
          </a:p>
        </p:txBody>
      </p:sp>
      <p:sp>
        <p:nvSpPr>
          <p:cNvPr id="50" name="Text 40"/>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AFB1B8"/>
                </a:solidFill>
                <a:latin typeface="Calibri" pitchFamily="34" charset="0"/>
                <a:ea typeface="Calibri" pitchFamily="34" charset="-122"/>
                <a:cs typeface="Calibri" pitchFamily="34" charset="-120"/>
              </a:rPr>
              <a:t>3</a:t>
            </a:r>
            <a:endParaRPr lang="en-US" sz="1000" dirty="0"/>
          </a:p>
        </p:txBody>
      </p:sp>
      <p:sp>
        <p:nvSpPr>
          <p:cNvPr id="51" name="Text 41"/>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C7C9CE"/>
                </a:solidFill>
                <a:latin typeface="Calibri" pitchFamily="34" charset="0"/>
                <a:ea typeface="Calibri" pitchFamily="34" charset="-122"/>
                <a:cs typeface="Calibri" pitchFamily="34" charset="-120"/>
              </a:rPr>
              <a:t>DevOps Incident Management System</a:t>
            </a:r>
            <a:endParaRPr lang="en-US" sz="900" dirty="0"/>
          </a:p>
        </p:txBody>
      </p:sp>
      <p:pic>
        <p:nvPicPr>
          <p:cNvPr id="53" name="Picture 52">
            <a:extLst>
              <a:ext uri="{FF2B5EF4-FFF2-40B4-BE49-F238E27FC236}">
                <a16:creationId xmlns:a16="http://schemas.microsoft.com/office/drawing/2014/main" xmlns="" id="{20270BBC-A6AC-0C59-BD67-7B31A3D65500}"/>
              </a:ext>
            </a:extLst>
          </p:cNvPr>
          <p:cNvPicPr>
            <a:picLocks noChangeAspect="1"/>
          </p:cNvPicPr>
          <p:nvPr/>
        </p:nvPicPr>
        <p:blipFill>
          <a:blip r:embed="rId9"/>
          <a:stretch>
            <a:fillRect/>
          </a:stretch>
        </p:blipFill>
        <p:spPr>
          <a:xfrm>
            <a:off x="10249380" y="0"/>
            <a:ext cx="1942620" cy="62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621792"/>
          </a:xfrm>
          <a:prstGeom prst="rect">
            <a:avLst/>
          </a:prstGeom>
          <a:noFill/>
          <a:ln/>
        </p:spPr>
        <p:txBody>
          <a:bodyPr wrap="square" rtlCol="0" anchor="ctr"/>
          <a:lstStyle/>
          <a:p>
            <a:pPr marL="0" indent="0">
              <a:buNone/>
            </a:pPr>
            <a:r>
              <a:rPr lang="en-US" sz="2900" b="1" dirty="0">
                <a:solidFill>
                  <a:srgbClr val="1E1F24"/>
                </a:solidFill>
                <a:latin typeface="Calibri" pitchFamily="34" charset="0"/>
                <a:ea typeface="Calibri" pitchFamily="34" charset="-122"/>
                <a:cs typeface="Calibri" pitchFamily="34" charset="-120"/>
              </a:rPr>
              <a:t>Proposed Solutions</a:t>
            </a:r>
            <a:endParaRPr lang="en-US" sz="2900" dirty="0"/>
          </a:p>
        </p:txBody>
      </p:sp>
      <p:sp>
        <p:nvSpPr>
          <p:cNvPr id="3" name="Shape 1"/>
          <p:cNvSpPr/>
          <p:nvPr/>
        </p:nvSpPr>
        <p:spPr>
          <a:xfrm>
            <a:off x="566928" y="960120"/>
            <a:ext cx="502920" cy="54864"/>
          </a:xfrm>
          <a:prstGeom prst="rect">
            <a:avLst/>
          </a:prstGeom>
          <a:solidFill>
            <a:srgbClr val="F5A623"/>
          </a:solidFill>
          <a:ln/>
        </p:spPr>
      </p:sp>
      <p:sp>
        <p:nvSpPr>
          <p:cNvPr id="4" name="Shape 2"/>
          <p:cNvSpPr/>
          <p:nvPr/>
        </p:nvSpPr>
        <p:spPr>
          <a:xfrm>
            <a:off x="548640" y="1298448"/>
            <a:ext cx="3611880" cy="2331720"/>
          </a:xfrm>
          <a:prstGeom prst="roundRect">
            <a:avLst>
              <a:gd name="adj" fmla="val 4706"/>
            </a:avLst>
          </a:prstGeom>
          <a:solidFill>
            <a:srgbClr val="F3F3F5"/>
          </a:solidFill>
          <a:ln/>
        </p:spPr>
      </p:sp>
      <p:sp>
        <p:nvSpPr>
          <p:cNvPr id="5" name="Shape 3"/>
          <p:cNvSpPr/>
          <p:nvPr/>
        </p:nvSpPr>
        <p:spPr>
          <a:xfrm>
            <a:off x="749808" y="1499616"/>
            <a:ext cx="566928" cy="566928"/>
          </a:xfrm>
          <a:prstGeom prst="ellipse">
            <a:avLst/>
          </a:prstGeom>
          <a:solidFill>
            <a:srgbClr val="34363C"/>
          </a:solidFill>
          <a:ln/>
        </p:spPr>
      </p:sp>
      <p:pic>
        <p:nvPicPr>
          <p:cNvPr id="6" name="Image 0" descr="/home/claude/ppt/icons/trend.png"/>
          <p:cNvPicPr>
            <a:picLocks noChangeAspect="1"/>
          </p:cNvPicPr>
          <p:nvPr/>
        </p:nvPicPr>
        <p:blipFill>
          <a:blip r:embed="rId3"/>
          <a:stretch>
            <a:fillRect/>
          </a:stretch>
        </p:blipFill>
        <p:spPr>
          <a:xfrm>
            <a:off x="885871" y="1635679"/>
            <a:ext cx="294803" cy="294803"/>
          </a:xfrm>
          <a:prstGeom prst="rect">
            <a:avLst/>
          </a:prstGeom>
        </p:spPr>
      </p:pic>
      <p:sp>
        <p:nvSpPr>
          <p:cNvPr id="7" name="Text 4"/>
          <p:cNvSpPr txBox="1"/>
          <p:nvPr/>
        </p:nvSpPr>
        <p:spPr>
          <a:xfrm>
            <a:off x="3593592" y="1499616"/>
            <a:ext cx="365760" cy="365760"/>
          </a:xfrm>
          <a:prstGeom prst="rect">
            <a:avLst/>
          </a:prstGeom>
          <a:noFill/>
          <a:ln/>
        </p:spPr>
        <p:txBody>
          <a:bodyPr wrap="square" lIns="0" tIns="0" rIns="0" bIns="0" rtlCol="0" anchor="ctr"/>
          <a:lstStyle/>
          <a:p>
            <a:pPr marL="0" indent="0" algn="r">
              <a:buNone/>
            </a:pPr>
            <a:r>
              <a:rPr lang="en-US" sz="1600" b="1" dirty="0">
                <a:solidFill>
                  <a:srgbClr val="F5A623"/>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749808" y="2167128"/>
            <a:ext cx="3209544" cy="411480"/>
          </a:xfrm>
          <a:prstGeom prst="rect">
            <a:avLst/>
          </a:prstGeom>
          <a:noFill/>
          <a:ln/>
        </p:spPr>
        <p:txBody>
          <a:bodyPr wrap="square" lIns="0" tIns="0" rIns="0" bIns="0" rtlCol="0" anchor="ctr"/>
          <a:lstStyle/>
          <a:p>
            <a:pPr marL="0" indent="0">
              <a:buNone/>
            </a:pPr>
            <a:r>
              <a:rPr lang="en-US" sz="1500" b="1" dirty="0">
                <a:solidFill>
                  <a:srgbClr val="1E1F24"/>
                </a:solidFill>
                <a:latin typeface="Calibri" pitchFamily="34" charset="0"/>
                <a:ea typeface="Calibri" pitchFamily="34" charset="-122"/>
                <a:cs typeface="Calibri" pitchFamily="34" charset="-120"/>
              </a:rPr>
              <a:t>Predictive Alerting</a:t>
            </a:r>
            <a:endParaRPr lang="en-US" sz="1500" dirty="0"/>
          </a:p>
        </p:txBody>
      </p:sp>
      <p:sp>
        <p:nvSpPr>
          <p:cNvPr id="9" name="Text 6"/>
          <p:cNvSpPr txBox="1"/>
          <p:nvPr/>
        </p:nvSpPr>
        <p:spPr>
          <a:xfrm>
            <a:off x="749808" y="2596896"/>
            <a:ext cx="3209544" cy="914400"/>
          </a:xfrm>
          <a:prstGeom prst="rect">
            <a:avLst/>
          </a:prstGeom>
          <a:noFill/>
          <a:ln/>
        </p:spPr>
        <p:txBody>
          <a:bodyPr wrap="square" lIns="0" tIns="0" rIns="0" bIns="0" rtlCol="0" anchor="ctr"/>
          <a:lstStyle/>
          <a:p>
            <a:pPr marL="0" indent="0">
              <a:lnSpc>
                <a:spcPts val="1550"/>
              </a:lnSpc>
              <a:buNone/>
            </a:pPr>
            <a:r>
              <a:rPr lang="en-US" sz="1200" dirty="0">
                <a:solidFill>
                  <a:srgbClr val="6B6F76"/>
                </a:solidFill>
                <a:latin typeface="Calibri" pitchFamily="34" charset="0"/>
                <a:ea typeface="Calibri" pitchFamily="34" charset="-122"/>
                <a:cs typeface="Calibri" pitchFamily="34" charset="-120"/>
              </a:rPr>
              <a:t>Watches metric trends and warns the team before a real failure happens, not after.</a:t>
            </a:r>
            <a:endParaRPr lang="en-US" sz="1200" dirty="0"/>
          </a:p>
        </p:txBody>
      </p:sp>
      <p:sp>
        <p:nvSpPr>
          <p:cNvPr id="10" name="Shape 7"/>
          <p:cNvSpPr/>
          <p:nvPr/>
        </p:nvSpPr>
        <p:spPr>
          <a:xfrm>
            <a:off x="4416552" y="1298448"/>
            <a:ext cx="3611880" cy="2331720"/>
          </a:xfrm>
          <a:prstGeom prst="roundRect">
            <a:avLst>
              <a:gd name="adj" fmla="val 4706"/>
            </a:avLst>
          </a:prstGeom>
          <a:solidFill>
            <a:srgbClr val="F3F3F5"/>
          </a:solidFill>
          <a:ln/>
        </p:spPr>
      </p:sp>
      <p:sp>
        <p:nvSpPr>
          <p:cNvPr id="11" name="Shape 8"/>
          <p:cNvSpPr/>
          <p:nvPr/>
        </p:nvSpPr>
        <p:spPr>
          <a:xfrm>
            <a:off x="4617720" y="1499616"/>
            <a:ext cx="566928" cy="566928"/>
          </a:xfrm>
          <a:prstGeom prst="ellipse">
            <a:avLst/>
          </a:prstGeom>
          <a:solidFill>
            <a:srgbClr val="34363C"/>
          </a:solidFill>
          <a:ln/>
        </p:spPr>
      </p:sp>
      <p:pic>
        <p:nvPicPr>
          <p:cNvPr id="12" name="Image 1" descr="/home/claude/ppt/icons/merge.png"/>
          <p:cNvPicPr>
            <a:picLocks noChangeAspect="1"/>
          </p:cNvPicPr>
          <p:nvPr/>
        </p:nvPicPr>
        <p:blipFill>
          <a:blip r:embed="rId4"/>
          <a:stretch>
            <a:fillRect/>
          </a:stretch>
        </p:blipFill>
        <p:spPr>
          <a:xfrm>
            <a:off x="4753783" y="1635679"/>
            <a:ext cx="294803" cy="294803"/>
          </a:xfrm>
          <a:prstGeom prst="rect">
            <a:avLst/>
          </a:prstGeom>
        </p:spPr>
      </p:pic>
      <p:sp>
        <p:nvSpPr>
          <p:cNvPr id="13" name="Text 9"/>
          <p:cNvSpPr txBox="1"/>
          <p:nvPr/>
        </p:nvSpPr>
        <p:spPr>
          <a:xfrm>
            <a:off x="7461504" y="1499616"/>
            <a:ext cx="365760" cy="365760"/>
          </a:xfrm>
          <a:prstGeom prst="rect">
            <a:avLst/>
          </a:prstGeom>
          <a:noFill/>
          <a:ln/>
        </p:spPr>
        <p:txBody>
          <a:bodyPr wrap="square" lIns="0" tIns="0" rIns="0" bIns="0" rtlCol="0" anchor="ctr"/>
          <a:lstStyle/>
          <a:p>
            <a:pPr marL="0" indent="0" algn="r">
              <a:buNone/>
            </a:pPr>
            <a:r>
              <a:rPr lang="en-US" sz="1600" b="1" dirty="0">
                <a:solidFill>
                  <a:srgbClr val="F5A623"/>
                </a:solidFill>
                <a:latin typeface="Calibri" pitchFamily="34" charset="0"/>
                <a:ea typeface="Calibri" pitchFamily="34" charset="-122"/>
                <a:cs typeface="Calibri" pitchFamily="34" charset="-120"/>
              </a:rPr>
              <a:t>2</a:t>
            </a:r>
            <a:endParaRPr lang="en-US" sz="1600" dirty="0"/>
          </a:p>
        </p:txBody>
      </p:sp>
      <p:sp>
        <p:nvSpPr>
          <p:cNvPr id="14" name="Text 10"/>
          <p:cNvSpPr txBox="1"/>
          <p:nvPr/>
        </p:nvSpPr>
        <p:spPr>
          <a:xfrm>
            <a:off x="4617720" y="2167128"/>
            <a:ext cx="3209544" cy="411480"/>
          </a:xfrm>
          <a:prstGeom prst="rect">
            <a:avLst/>
          </a:prstGeom>
          <a:noFill/>
          <a:ln/>
        </p:spPr>
        <p:txBody>
          <a:bodyPr wrap="square" lIns="0" tIns="0" rIns="0" bIns="0" rtlCol="0" anchor="ctr"/>
          <a:lstStyle/>
          <a:p>
            <a:pPr marL="0" indent="0">
              <a:buNone/>
            </a:pPr>
            <a:r>
              <a:rPr lang="en-US" sz="1500" b="1" dirty="0">
                <a:solidFill>
                  <a:srgbClr val="1E1F24"/>
                </a:solidFill>
                <a:latin typeface="Calibri" pitchFamily="34" charset="0"/>
                <a:ea typeface="Calibri" pitchFamily="34" charset="-122"/>
                <a:cs typeface="Calibri" pitchFamily="34" charset="-120"/>
              </a:rPr>
              <a:t>Alert Correlation</a:t>
            </a:r>
            <a:endParaRPr lang="en-US" sz="1500" dirty="0"/>
          </a:p>
        </p:txBody>
      </p:sp>
      <p:sp>
        <p:nvSpPr>
          <p:cNvPr id="15" name="Text 11"/>
          <p:cNvSpPr txBox="1"/>
          <p:nvPr/>
        </p:nvSpPr>
        <p:spPr>
          <a:xfrm>
            <a:off x="4617720" y="2596896"/>
            <a:ext cx="3209544" cy="914400"/>
          </a:xfrm>
          <a:prstGeom prst="rect">
            <a:avLst/>
          </a:prstGeom>
          <a:noFill/>
          <a:ln/>
        </p:spPr>
        <p:txBody>
          <a:bodyPr wrap="square" lIns="0" tIns="0" rIns="0" bIns="0" rtlCol="0" anchor="ctr"/>
          <a:lstStyle/>
          <a:p>
            <a:pPr marL="0" indent="0">
              <a:lnSpc>
                <a:spcPts val="1550"/>
              </a:lnSpc>
              <a:buNone/>
            </a:pPr>
            <a:r>
              <a:rPr lang="en-US" sz="1200" dirty="0">
                <a:solidFill>
                  <a:srgbClr val="6B6F76"/>
                </a:solidFill>
                <a:latin typeface="Calibri" pitchFamily="34" charset="0"/>
                <a:ea typeface="Calibri" pitchFamily="34" charset="-122"/>
                <a:cs typeface="Calibri" pitchFamily="34" charset="-120"/>
              </a:rPr>
              <a:t>Groups related alerts by service and time window into one single incident.</a:t>
            </a:r>
            <a:endParaRPr lang="en-US" sz="1200" dirty="0"/>
          </a:p>
        </p:txBody>
      </p:sp>
      <p:sp>
        <p:nvSpPr>
          <p:cNvPr id="16" name="Shape 12"/>
          <p:cNvSpPr/>
          <p:nvPr/>
        </p:nvSpPr>
        <p:spPr>
          <a:xfrm>
            <a:off x="8284464" y="1298448"/>
            <a:ext cx="3611880" cy="2331720"/>
          </a:xfrm>
          <a:prstGeom prst="roundRect">
            <a:avLst>
              <a:gd name="adj" fmla="val 4706"/>
            </a:avLst>
          </a:prstGeom>
          <a:solidFill>
            <a:srgbClr val="F3F3F5"/>
          </a:solidFill>
          <a:ln/>
        </p:spPr>
      </p:sp>
      <p:sp>
        <p:nvSpPr>
          <p:cNvPr id="17" name="Shape 13"/>
          <p:cNvSpPr/>
          <p:nvPr/>
        </p:nvSpPr>
        <p:spPr>
          <a:xfrm>
            <a:off x="8485632" y="1499616"/>
            <a:ext cx="566928" cy="566928"/>
          </a:xfrm>
          <a:prstGeom prst="ellipse">
            <a:avLst/>
          </a:prstGeom>
          <a:solidFill>
            <a:srgbClr val="34363C"/>
          </a:solidFill>
          <a:ln/>
        </p:spPr>
      </p:sp>
      <p:pic>
        <p:nvPicPr>
          <p:cNvPr id="18" name="Image 2" descr="/home/claude/ppt/icons/search.png"/>
          <p:cNvPicPr>
            <a:picLocks noChangeAspect="1"/>
          </p:cNvPicPr>
          <p:nvPr/>
        </p:nvPicPr>
        <p:blipFill>
          <a:blip r:embed="rId5"/>
          <a:stretch>
            <a:fillRect/>
          </a:stretch>
        </p:blipFill>
        <p:spPr>
          <a:xfrm>
            <a:off x="8621695" y="1635679"/>
            <a:ext cx="294803" cy="294803"/>
          </a:xfrm>
          <a:prstGeom prst="rect">
            <a:avLst/>
          </a:prstGeom>
        </p:spPr>
      </p:pic>
      <p:sp>
        <p:nvSpPr>
          <p:cNvPr id="19" name="Text 14"/>
          <p:cNvSpPr txBox="1"/>
          <p:nvPr/>
        </p:nvSpPr>
        <p:spPr>
          <a:xfrm>
            <a:off x="11329416" y="1499616"/>
            <a:ext cx="365760" cy="365760"/>
          </a:xfrm>
          <a:prstGeom prst="rect">
            <a:avLst/>
          </a:prstGeom>
          <a:noFill/>
          <a:ln/>
        </p:spPr>
        <p:txBody>
          <a:bodyPr wrap="square" lIns="0" tIns="0" rIns="0" bIns="0" rtlCol="0" anchor="ctr"/>
          <a:lstStyle/>
          <a:p>
            <a:pPr marL="0" indent="0" algn="r">
              <a:buNone/>
            </a:pPr>
            <a:r>
              <a:rPr lang="en-US" sz="1600" b="1" dirty="0">
                <a:solidFill>
                  <a:srgbClr val="F5A623"/>
                </a:solidFill>
                <a:latin typeface="Calibri" pitchFamily="34" charset="0"/>
                <a:ea typeface="Calibri" pitchFamily="34" charset="-122"/>
                <a:cs typeface="Calibri" pitchFamily="34" charset="-120"/>
              </a:rPr>
              <a:t>3</a:t>
            </a:r>
            <a:endParaRPr lang="en-US" sz="1600" dirty="0"/>
          </a:p>
        </p:txBody>
      </p:sp>
      <p:sp>
        <p:nvSpPr>
          <p:cNvPr id="20" name="Text 15"/>
          <p:cNvSpPr txBox="1"/>
          <p:nvPr/>
        </p:nvSpPr>
        <p:spPr>
          <a:xfrm>
            <a:off x="8485632" y="2167128"/>
            <a:ext cx="3209544" cy="411480"/>
          </a:xfrm>
          <a:prstGeom prst="rect">
            <a:avLst/>
          </a:prstGeom>
          <a:noFill/>
          <a:ln/>
        </p:spPr>
        <p:txBody>
          <a:bodyPr wrap="square" lIns="0" tIns="0" rIns="0" bIns="0" rtlCol="0" anchor="ctr"/>
          <a:lstStyle/>
          <a:p>
            <a:pPr marL="0" indent="0">
              <a:buNone/>
            </a:pPr>
            <a:r>
              <a:rPr lang="en-US" sz="1500" b="1" dirty="0">
                <a:solidFill>
                  <a:srgbClr val="1E1F24"/>
                </a:solidFill>
                <a:latin typeface="Calibri" pitchFamily="34" charset="0"/>
                <a:ea typeface="Calibri" pitchFamily="34" charset="-122"/>
                <a:cs typeface="Calibri" pitchFamily="34" charset="-120"/>
              </a:rPr>
              <a:t>Root Cause Suggestion</a:t>
            </a:r>
            <a:endParaRPr lang="en-US" sz="1500" dirty="0"/>
          </a:p>
        </p:txBody>
      </p:sp>
      <p:sp>
        <p:nvSpPr>
          <p:cNvPr id="21" name="Text 16"/>
          <p:cNvSpPr txBox="1"/>
          <p:nvPr/>
        </p:nvSpPr>
        <p:spPr>
          <a:xfrm>
            <a:off x="8485632" y="2596896"/>
            <a:ext cx="3209544" cy="914400"/>
          </a:xfrm>
          <a:prstGeom prst="rect">
            <a:avLst/>
          </a:prstGeom>
          <a:noFill/>
          <a:ln/>
        </p:spPr>
        <p:txBody>
          <a:bodyPr wrap="square" lIns="0" tIns="0" rIns="0" bIns="0" rtlCol="0" anchor="ctr"/>
          <a:lstStyle/>
          <a:p>
            <a:pPr marL="0" indent="0">
              <a:lnSpc>
                <a:spcPts val="1550"/>
              </a:lnSpc>
              <a:buNone/>
            </a:pPr>
            <a:r>
              <a:rPr lang="en-US" sz="1200" dirty="0">
                <a:solidFill>
                  <a:srgbClr val="6B6F76"/>
                </a:solidFill>
                <a:latin typeface="Calibri" pitchFamily="34" charset="0"/>
                <a:ea typeface="Calibri" pitchFamily="34" charset="-122"/>
                <a:cs typeface="Calibri" pitchFamily="34" charset="-120"/>
              </a:rPr>
              <a:t>Links logs and traces to point at the likely reason behind a failure.</a:t>
            </a:r>
            <a:endParaRPr lang="en-US" sz="1200" dirty="0"/>
          </a:p>
        </p:txBody>
      </p:sp>
      <p:sp>
        <p:nvSpPr>
          <p:cNvPr id="22" name="Shape 17"/>
          <p:cNvSpPr/>
          <p:nvPr/>
        </p:nvSpPr>
        <p:spPr>
          <a:xfrm>
            <a:off x="548640" y="3831336"/>
            <a:ext cx="3611880" cy="2331720"/>
          </a:xfrm>
          <a:prstGeom prst="roundRect">
            <a:avLst>
              <a:gd name="adj" fmla="val 4706"/>
            </a:avLst>
          </a:prstGeom>
          <a:solidFill>
            <a:srgbClr val="F3F3F5"/>
          </a:solidFill>
          <a:ln/>
        </p:spPr>
      </p:sp>
      <p:sp>
        <p:nvSpPr>
          <p:cNvPr id="23" name="Shape 18"/>
          <p:cNvSpPr/>
          <p:nvPr/>
        </p:nvSpPr>
        <p:spPr>
          <a:xfrm>
            <a:off x="749808" y="4032504"/>
            <a:ext cx="566928" cy="566928"/>
          </a:xfrm>
          <a:prstGeom prst="ellipse">
            <a:avLst/>
          </a:prstGeom>
          <a:solidFill>
            <a:srgbClr val="34363C"/>
          </a:solidFill>
          <a:ln/>
        </p:spPr>
      </p:sp>
      <p:pic>
        <p:nvPicPr>
          <p:cNvPr id="24" name="Image 3" descr="/home/claude/ppt/icons/autofix.png"/>
          <p:cNvPicPr>
            <a:picLocks noChangeAspect="1"/>
          </p:cNvPicPr>
          <p:nvPr/>
        </p:nvPicPr>
        <p:blipFill>
          <a:blip r:embed="rId6"/>
          <a:stretch>
            <a:fillRect/>
          </a:stretch>
        </p:blipFill>
        <p:spPr>
          <a:xfrm>
            <a:off x="885871" y="4168567"/>
            <a:ext cx="294803" cy="294803"/>
          </a:xfrm>
          <a:prstGeom prst="rect">
            <a:avLst/>
          </a:prstGeom>
        </p:spPr>
      </p:pic>
      <p:sp>
        <p:nvSpPr>
          <p:cNvPr id="25" name="Text 19"/>
          <p:cNvSpPr txBox="1"/>
          <p:nvPr/>
        </p:nvSpPr>
        <p:spPr>
          <a:xfrm>
            <a:off x="3593592" y="4032504"/>
            <a:ext cx="365760" cy="365760"/>
          </a:xfrm>
          <a:prstGeom prst="rect">
            <a:avLst/>
          </a:prstGeom>
          <a:noFill/>
          <a:ln/>
        </p:spPr>
        <p:txBody>
          <a:bodyPr wrap="square" lIns="0" tIns="0" rIns="0" bIns="0" rtlCol="0" anchor="ctr"/>
          <a:lstStyle/>
          <a:p>
            <a:pPr marL="0" indent="0" algn="r">
              <a:buNone/>
            </a:pPr>
            <a:r>
              <a:rPr lang="en-US" sz="1600" b="1" dirty="0">
                <a:solidFill>
                  <a:srgbClr val="F5A623"/>
                </a:solidFill>
                <a:latin typeface="Calibri" pitchFamily="34" charset="0"/>
                <a:ea typeface="Calibri" pitchFamily="34" charset="-122"/>
                <a:cs typeface="Calibri" pitchFamily="34" charset="-120"/>
              </a:rPr>
              <a:t>4</a:t>
            </a:r>
            <a:endParaRPr lang="en-US" sz="1600" dirty="0"/>
          </a:p>
        </p:txBody>
      </p:sp>
      <p:sp>
        <p:nvSpPr>
          <p:cNvPr id="26" name="Text 20"/>
          <p:cNvSpPr txBox="1"/>
          <p:nvPr/>
        </p:nvSpPr>
        <p:spPr>
          <a:xfrm>
            <a:off x="749808" y="4700016"/>
            <a:ext cx="3209544" cy="411480"/>
          </a:xfrm>
          <a:prstGeom prst="rect">
            <a:avLst/>
          </a:prstGeom>
          <a:noFill/>
          <a:ln/>
        </p:spPr>
        <p:txBody>
          <a:bodyPr wrap="square" lIns="0" tIns="0" rIns="0" bIns="0" rtlCol="0" anchor="ctr"/>
          <a:lstStyle/>
          <a:p>
            <a:pPr marL="0" indent="0">
              <a:buNone/>
            </a:pPr>
            <a:r>
              <a:rPr lang="en-US" sz="1500" b="1" dirty="0">
                <a:solidFill>
                  <a:srgbClr val="1E1F24"/>
                </a:solidFill>
                <a:latin typeface="Calibri" pitchFamily="34" charset="0"/>
                <a:ea typeface="Calibri" pitchFamily="34" charset="-122"/>
                <a:cs typeface="Calibri" pitchFamily="34" charset="-120"/>
              </a:rPr>
              <a:t>Auto Remediation</a:t>
            </a:r>
            <a:endParaRPr lang="en-US" sz="1500" dirty="0"/>
          </a:p>
        </p:txBody>
      </p:sp>
      <p:sp>
        <p:nvSpPr>
          <p:cNvPr id="27" name="Text 21"/>
          <p:cNvSpPr txBox="1"/>
          <p:nvPr/>
        </p:nvSpPr>
        <p:spPr>
          <a:xfrm>
            <a:off x="749808" y="5129784"/>
            <a:ext cx="3209544" cy="914400"/>
          </a:xfrm>
          <a:prstGeom prst="rect">
            <a:avLst/>
          </a:prstGeom>
          <a:noFill/>
          <a:ln/>
        </p:spPr>
        <p:txBody>
          <a:bodyPr wrap="square" lIns="0" tIns="0" rIns="0" bIns="0" rtlCol="0" anchor="ctr"/>
          <a:lstStyle/>
          <a:p>
            <a:pPr marL="0" indent="0">
              <a:lnSpc>
                <a:spcPts val="1550"/>
              </a:lnSpc>
              <a:buNone/>
            </a:pPr>
            <a:r>
              <a:rPr lang="en-US" sz="1200" dirty="0">
                <a:solidFill>
                  <a:srgbClr val="6B6F76"/>
                </a:solidFill>
                <a:latin typeface="Calibri" pitchFamily="34" charset="0"/>
                <a:ea typeface="Calibri" pitchFamily="34" charset="-122"/>
                <a:cs typeface="Calibri" pitchFamily="34" charset="-120"/>
              </a:rPr>
              <a:t>Takes safe, pre-checked actions like restarting a pod or scaling replicas.</a:t>
            </a:r>
            <a:endParaRPr lang="en-US" sz="1200" dirty="0"/>
          </a:p>
        </p:txBody>
      </p:sp>
      <p:sp>
        <p:nvSpPr>
          <p:cNvPr id="28" name="Shape 22"/>
          <p:cNvSpPr/>
          <p:nvPr/>
        </p:nvSpPr>
        <p:spPr>
          <a:xfrm>
            <a:off x="4416552" y="3831336"/>
            <a:ext cx="3611880" cy="2331720"/>
          </a:xfrm>
          <a:prstGeom prst="roundRect">
            <a:avLst>
              <a:gd name="adj" fmla="val 4706"/>
            </a:avLst>
          </a:prstGeom>
          <a:solidFill>
            <a:srgbClr val="F3F3F5"/>
          </a:solidFill>
          <a:ln/>
        </p:spPr>
      </p:sp>
      <p:sp>
        <p:nvSpPr>
          <p:cNvPr id="29" name="Shape 23"/>
          <p:cNvSpPr/>
          <p:nvPr/>
        </p:nvSpPr>
        <p:spPr>
          <a:xfrm>
            <a:off x="4617720" y="4032504"/>
            <a:ext cx="566928" cy="566928"/>
          </a:xfrm>
          <a:prstGeom prst="ellipse">
            <a:avLst/>
          </a:prstGeom>
          <a:solidFill>
            <a:srgbClr val="34363C"/>
          </a:solidFill>
          <a:ln/>
        </p:spPr>
      </p:sp>
      <p:pic>
        <p:nvPicPr>
          <p:cNvPr id="30" name="Image 4" descr="/home/claude/ppt/icons/terminal.png"/>
          <p:cNvPicPr>
            <a:picLocks noChangeAspect="1"/>
          </p:cNvPicPr>
          <p:nvPr/>
        </p:nvPicPr>
        <p:blipFill>
          <a:blip r:embed="rId7"/>
          <a:stretch>
            <a:fillRect/>
          </a:stretch>
        </p:blipFill>
        <p:spPr>
          <a:xfrm>
            <a:off x="4753783" y="4168567"/>
            <a:ext cx="294803" cy="294803"/>
          </a:xfrm>
          <a:prstGeom prst="rect">
            <a:avLst/>
          </a:prstGeom>
        </p:spPr>
      </p:pic>
      <p:sp>
        <p:nvSpPr>
          <p:cNvPr id="31" name="Text 24"/>
          <p:cNvSpPr txBox="1"/>
          <p:nvPr/>
        </p:nvSpPr>
        <p:spPr>
          <a:xfrm>
            <a:off x="7461504" y="4032504"/>
            <a:ext cx="365760" cy="365760"/>
          </a:xfrm>
          <a:prstGeom prst="rect">
            <a:avLst/>
          </a:prstGeom>
          <a:noFill/>
          <a:ln/>
        </p:spPr>
        <p:txBody>
          <a:bodyPr wrap="square" lIns="0" tIns="0" rIns="0" bIns="0" rtlCol="0" anchor="ctr"/>
          <a:lstStyle/>
          <a:p>
            <a:pPr marL="0" indent="0" algn="r">
              <a:buNone/>
            </a:pPr>
            <a:r>
              <a:rPr lang="en-US" sz="1600" b="1" dirty="0">
                <a:solidFill>
                  <a:srgbClr val="F5A623"/>
                </a:solidFill>
                <a:latin typeface="Calibri" pitchFamily="34" charset="0"/>
                <a:ea typeface="Calibri" pitchFamily="34" charset="-122"/>
                <a:cs typeface="Calibri" pitchFamily="34" charset="-120"/>
              </a:rPr>
              <a:t>5</a:t>
            </a:r>
            <a:endParaRPr lang="en-US" sz="1600" dirty="0"/>
          </a:p>
        </p:txBody>
      </p:sp>
      <p:sp>
        <p:nvSpPr>
          <p:cNvPr id="32" name="Text 25"/>
          <p:cNvSpPr txBox="1"/>
          <p:nvPr/>
        </p:nvSpPr>
        <p:spPr>
          <a:xfrm>
            <a:off x="4617720" y="4700016"/>
            <a:ext cx="3209544" cy="411480"/>
          </a:xfrm>
          <a:prstGeom prst="rect">
            <a:avLst/>
          </a:prstGeom>
          <a:noFill/>
          <a:ln/>
        </p:spPr>
        <p:txBody>
          <a:bodyPr wrap="square" lIns="0" tIns="0" rIns="0" bIns="0" rtlCol="0" anchor="ctr"/>
          <a:lstStyle/>
          <a:p>
            <a:pPr marL="0" indent="0">
              <a:buNone/>
            </a:pPr>
            <a:r>
              <a:rPr lang="en-US" sz="1500" b="1" dirty="0">
                <a:solidFill>
                  <a:srgbClr val="1E1F24"/>
                </a:solidFill>
                <a:latin typeface="Calibri" pitchFamily="34" charset="0"/>
                <a:ea typeface="Calibri" pitchFamily="34" charset="-122"/>
                <a:cs typeface="Calibri" pitchFamily="34" charset="-120"/>
              </a:rPr>
              <a:t>Suggested Commands</a:t>
            </a:r>
            <a:endParaRPr lang="en-US" sz="1500" dirty="0"/>
          </a:p>
        </p:txBody>
      </p:sp>
      <p:sp>
        <p:nvSpPr>
          <p:cNvPr id="33" name="Text 26"/>
          <p:cNvSpPr txBox="1"/>
          <p:nvPr/>
        </p:nvSpPr>
        <p:spPr>
          <a:xfrm>
            <a:off x="4617720" y="5129784"/>
            <a:ext cx="3209544" cy="914400"/>
          </a:xfrm>
          <a:prstGeom prst="rect">
            <a:avLst/>
          </a:prstGeom>
          <a:noFill/>
          <a:ln/>
        </p:spPr>
        <p:txBody>
          <a:bodyPr wrap="square" lIns="0" tIns="0" rIns="0" bIns="0" rtlCol="0" anchor="ctr"/>
          <a:lstStyle/>
          <a:p>
            <a:pPr marL="0" indent="0">
              <a:lnSpc>
                <a:spcPts val="1550"/>
              </a:lnSpc>
              <a:buNone/>
            </a:pPr>
            <a:r>
              <a:rPr lang="en-US" sz="1200" dirty="0">
                <a:solidFill>
                  <a:srgbClr val="6B6F76"/>
                </a:solidFill>
                <a:latin typeface="Calibri" pitchFamily="34" charset="0"/>
                <a:ea typeface="Calibri" pitchFamily="34" charset="-122"/>
                <a:cs typeface="Calibri" pitchFamily="34" charset="-120"/>
              </a:rPr>
              <a:t>Shows the exact command an engineer can review and copy-run to fix it.</a:t>
            </a:r>
            <a:endParaRPr lang="en-US" sz="1200" dirty="0"/>
          </a:p>
        </p:txBody>
      </p:sp>
      <p:sp>
        <p:nvSpPr>
          <p:cNvPr id="34" name="Shape 27"/>
          <p:cNvSpPr/>
          <p:nvPr/>
        </p:nvSpPr>
        <p:spPr>
          <a:xfrm>
            <a:off x="8284464" y="3831336"/>
            <a:ext cx="3611880" cy="2331720"/>
          </a:xfrm>
          <a:prstGeom prst="roundRect">
            <a:avLst>
              <a:gd name="adj" fmla="val 4706"/>
            </a:avLst>
          </a:prstGeom>
          <a:solidFill>
            <a:srgbClr val="F3F3F5"/>
          </a:solidFill>
          <a:ln/>
        </p:spPr>
      </p:sp>
      <p:sp>
        <p:nvSpPr>
          <p:cNvPr id="35" name="Shape 28"/>
          <p:cNvSpPr/>
          <p:nvPr/>
        </p:nvSpPr>
        <p:spPr>
          <a:xfrm>
            <a:off x="8485632" y="4032504"/>
            <a:ext cx="566928" cy="566928"/>
          </a:xfrm>
          <a:prstGeom prst="ellipse">
            <a:avLst/>
          </a:prstGeom>
          <a:solidFill>
            <a:srgbClr val="34363C"/>
          </a:solidFill>
          <a:ln/>
        </p:spPr>
      </p:sp>
      <p:pic>
        <p:nvPicPr>
          <p:cNvPr id="36" name="Image 5" descr="/home/claude/ppt/icons/doc.png"/>
          <p:cNvPicPr>
            <a:picLocks noChangeAspect="1"/>
          </p:cNvPicPr>
          <p:nvPr/>
        </p:nvPicPr>
        <p:blipFill>
          <a:blip r:embed="rId8"/>
          <a:stretch>
            <a:fillRect/>
          </a:stretch>
        </p:blipFill>
        <p:spPr>
          <a:xfrm>
            <a:off x="8621695" y="4168567"/>
            <a:ext cx="294803" cy="294803"/>
          </a:xfrm>
          <a:prstGeom prst="rect">
            <a:avLst/>
          </a:prstGeom>
        </p:spPr>
      </p:pic>
      <p:sp>
        <p:nvSpPr>
          <p:cNvPr id="37" name="Text 29"/>
          <p:cNvSpPr txBox="1"/>
          <p:nvPr/>
        </p:nvSpPr>
        <p:spPr>
          <a:xfrm>
            <a:off x="11329416" y="4032504"/>
            <a:ext cx="365760" cy="365760"/>
          </a:xfrm>
          <a:prstGeom prst="rect">
            <a:avLst/>
          </a:prstGeom>
          <a:noFill/>
          <a:ln/>
        </p:spPr>
        <p:txBody>
          <a:bodyPr wrap="square" lIns="0" tIns="0" rIns="0" bIns="0" rtlCol="0" anchor="ctr"/>
          <a:lstStyle/>
          <a:p>
            <a:pPr marL="0" indent="0" algn="r">
              <a:buNone/>
            </a:pPr>
            <a:r>
              <a:rPr lang="en-US" sz="1600" b="1" dirty="0">
                <a:solidFill>
                  <a:srgbClr val="F5A623"/>
                </a:solidFill>
                <a:latin typeface="Calibri" pitchFamily="34" charset="0"/>
                <a:ea typeface="Calibri" pitchFamily="34" charset="-122"/>
                <a:cs typeface="Calibri" pitchFamily="34" charset="-120"/>
              </a:rPr>
              <a:t>6</a:t>
            </a:r>
            <a:endParaRPr lang="en-US" sz="1600" dirty="0"/>
          </a:p>
        </p:txBody>
      </p:sp>
      <p:sp>
        <p:nvSpPr>
          <p:cNvPr id="38" name="Text 30"/>
          <p:cNvSpPr txBox="1"/>
          <p:nvPr/>
        </p:nvSpPr>
        <p:spPr>
          <a:xfrm>
            <a:off x="8485632" y="4700016"/>
            <a:ext cx="3209544" cy="411480"/>
          </a:xfrm>
          <a:prstGeom prst="rect">
            <a:avLst/>
          </a:prstGeom>
          <a:noFill/>
          <a:ln/>
        </p:spPr>
        <p:txBody>
          <a:bodyPr wrap="square" lIns="0" tIns="0" rIns="0" bIns="0" rtlCol="0" anchor="ctr"/>
          <a:lstStyle/>
          <a:p>
            <a:pPr marL="0" indent="0">
              <a:buNone/>
            </a:pPr>
            <a:r>
              <a:rPr lang="en-US" sz="1500" b="1" dirty="0">
                <a:solidFill>
                  <a:srgbClr val="1E1F24"/>
                </a:solidFill>
                <a:latin typeface="Calibri" pitchFamily="34" charset="0"/>
                <a:ea typeface="Calibri" pitchFamily="34" charset="-122"/>
                <a:cs typeface="Calibri" pitchFamily="34" charset="-120"/>
              </a:rPr>
              <a:t>Auto Postmortem</a:t>
            </a:r>
            <a:endParaRPr lang="en-US" sz="1500" dirty="0"/>
          </a:p>
        </p:txBody>
      </p:sp>
      <p:sp>
        <p:nvSpPr>
          <p:cNvPr id="39" name="Text 31"/>
          <p:cNvSpPr txBox="1"/>
          <p:nvPr/>
        </p:nvSpPr>
        <p:spPr>
          <a:xfrm>
            <a:off x="8485632" y="5129784"/>
            <a:ext cx="3209544" cy="914400"/>
          </a:xfrm>
          <a:prstGeom prst="rect">
            <a:avLst/>
          </a:prstGeom>
          <a:noFill/>
          <a:ln/>
        </p:spPr>
        <p:txBody>
          <a:bodyPr wrap="square" lIns="0" tIns="0" rIns="0" bIns="0" rtlCol="0" anchor="ctr"/>
          <a:lstStyle/>
          <a:p>
            <a:pPr marL="0" indent="0">
              <a:lnSpc>
                <a:spcPts val="1550"/>
              </a:lnSpc>
              <a:buNone/>
            </a:pPr>
            <a:r>
              <a:rPr lang="en-US" sz="1200" dirty="0">
                <a:solidFill>
                  <a:srgbClr val="6B6F76"/>
                </a:solidFill>
                <a:latin typeface="Calibri" pitchFamily="34" charset="0"/>
                <a:ea typeface="Calibri" pitchFamily="34" charset="-122"/>
                <a:cs typeface="Calibri" pitchFamily="34" charset="-120"/>
              </a:rPr>
              <a:t>Drafts a timeline and root-cause report automatically once resolved.</a:t>
            </a:r>
            <a:endParaRPr lang="en-US" sz="1200" dirty="0"/>
          </a:p>
        </p:txBody>
      </p:sp>
      <p:sp>
        <p:nvSpPr>
          <p:cNvPr id="40" name="Text 32"/>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AFB1B8"/>
                </a:solidFill>
                <a:latin typeface="Calibri" pitchFamily="34" charset="0"/>
                <a:ea typeface="Calibri" pitchFamily="34" charset="-122"/>
                <a:cs typeface="Calibri" pitchFamily="34" charset="-120"/>
              </a:rPr>
              <a:t>4</a:t>
            </a:r>
            <a:endParaRPr lang="en-US" sz="1000" dirty="0"/>
          </a:p>
        </p:txBody>
      </p:sp>
      <p:sp>
        <p:nvSpPr>
          <p:cNvPr id="41" name="Text 33"/>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C7C9CE"/>
                </a:solidFill>
                <a:latin typeface="Calibri" pitchFamily="34" charset="0"/>
                <a:ea typeface="Calibri" pitchFamily="34" charset="-122"/>
                <a:cs typeface="Calibri" pitchFamily="34" charset="-120"/>
              </a:rPr>
              <a:t>DevOps Incident Management System</a:t>
            </a:r>
            <a:endParaRPr lang="en-US" sz="900" dirty="0"/>
          </a:p>
        </p:txBody>
      </p:sp>
      <p:pic>
        <p:nvPicPr>
          <p:cNvPr id="43" name="Picture 42">
            <a:extLst>
              <a:ext uri="{FF2B5EF4-FFF2-40B4-BE49-F238E27FC236}">
                <a16:creationId xmlns:a16="http://schemas.microsoft.com/office/drawing/2014/main" xmlns="" id="{50ABE3F5-4DA0-007F-91E0-C5FE2E6AA91F}"/>
              </a:ext>
            </a:extLst>
          </p:cNvPr>
          <p:cNvPicPr>
            <a:picLocks noChangeAspect="1"/>
          </p:cNvPicPr>
          <p:nvPr/>
        </p:nvPicPr>
        <p:blipFill>
          <a:blip r:embed="rId9"/>
          <a:stretch>
            <a:fillRect/>
          </a:stretch>
        </p:blipFill>
        <p:spPr>
          <a:xfrm>
            <a:off x="10249380" y="0"/>
            <a:ext cx="1942620" cy="62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515600" cy="621792"/>
          </a:xfrm>
          <a:prstGeom prst="rect">
            <a:avLst/>
          </a:prstGeom>
          <a:noFill/>
          <a:ln/>
        </p:spPr>
        <p:txBody>
          <a:bodyPr wrap="square"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Why This Project</a:t>
            </a:r>
            <a:endParaRPr lang="en-US" sz="2900" dirty="0"/>
          </a:p>
        </p:txBody>
      </p:sp>
      <p:sp>
        <p:nvSpPr>
          <p:cNvPr id="3" name="Shape 1"/>
          <p:cNvSpPr/>
          <p:nvPr/>
        </p:nvSpPr>
        <p:spPr>
          <a:xfrm>
            <a:off x="566928" y="1051560"/>
            <a:ext cx="502920" cy="54864"/>
          </a:xfrm>
          <a:prstGeom prst="rect">
            <a:avLst/>
          </a:prstGeom>
          <a:solidFill>
            <a:srgbClr val="F5A623"/>
          </a:solidFill>
          <a:ln/>
        </p:spPr>
      </p:sp>
      <p:sp>
        <p:nvSpPr>
          <p:cNvPr id="4" name="Shape 2"/>
          <p:cNvSpPr/>
          <p:nvPr/>
        </p:nvSpPr>
        <p:spPr>
          <a:xfrm>
            <a:off x="548640" y="1371600"/>
            <a:ext cx="5349240" cy="4800600"/>
          </a:xfrm>
          <a:prstGeom prst="roundRect">
            <a:avLst>
              <a:gd name="adj" fmla="val 2286"/>
            </a:avLst>
          </a:prstGeom>
          <a:solidFill>
            <a:srgbClr val="232428"/>
          </a:solidFill>
          <a:ln/>
        </p:spPr>
      </p:sp>
      <p:sp>
        <p:nvSpPr>
          <p:cNvPr id="5" name="Shape 3"/>
          <p:cNvSpPr/>
          <p:nvPr/>
        </p:nvSpPr>
        <p:spPr>
          <a:xfrm>
            <a:off x="841248" y="1627632"/>
            <a:ext cx="640080" cy="640080"/>
          </a:xfrm>
          <a:prstGeom prst="ellipse">
            <a:avLst/>
          </a:prstGeom>
          <a:solidFill>
            <a:srgbClr val="F5A623"/>
          </a:solidFill>
          <a:ln/>
        </p:spPr>
      </p:sp>
      <p:pic>
        <p:nvPicPr>
          <p:cNvPr id="6" name="Image 0" descr="/home/claude/ppt/icons/learn.png"/>
          <p:cNvPicPr>
            <a:picLocks noChangeAspect="1"/>
          </p:cNvPicPr>
          <p:nvPr/>
        </p:nvPicPr>
        <p:blipFill>
          <a:blip r:embed="rId3"/>
          <a:stretch>
            <a:fillRect/>
          </a:stretch>
        </p:blipFill>
        <p:spPr>
          <a:xfrm>
            <a:off x="994867" y="1781251"/>
            <a:ext cx="332842" cy="332842"/>
          </a:xfrm>
          <a:prstGeom prst="rect">
            <a:avLst/>
          </a:prstGeom>
        </p:spPr>
      </p:pic>
      <p:sp>
        <p:nvSpPr>
          <p:cNvPr id="7" name="Text 4"/>
          <p:cNvSpPr txBox="1"/>
          <p:nvPr/>
        </p:nvSpPr>
        <p:spPr>
          <a:xfrm>
            <a:off x="1600200" y="1627632"/>
            <a:ext cx="4114800" cy="6400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Motivation</a:t>
            </a:r>
            <a:endParaRPr lang="en-US" sz="1700" dirty="0"/>
          </a:p>
        </p:txBody>
      </p:sp>
      <p:sp>
        <p:nvSpPr>
          <p:cNvPr id="8" name="Shape 5"/>
          <p:cNvSpPr/>
          <p:nvPr/>
        </p:nvSpPr>
        <p:spPr>
          <a:xfrm>
            <a:off x="868680" y="2478024"/>
            <a:ext cx="91440" cy="91440"/>
          </a:xfrm>
          <a:prstGeom prst="ellipse">
            <a:avLst/>
          </a:prstGeom>
          <a:solidFill>
            <a:srgbClr val="F5A623"/>
          </a:solidFill>
          <a:ln/>
        </p:spPr>
      </p:sp>
      <p:sp>
        <p:nvSpPr>
          <p:cNvPr id="9" name="Text 6"/>
          <p:cNvSpPr txBox="1"/>
          <p:nvPr/>
        </p:nvSpPr>
        <p:spPr>
          <a:xfrm>
            <a:off x="1115568" y="2331720"/>
            <a:ext cx="4526280" cy="731520"/>
          </a:xfrm>
          <a:prstGeom prst="rect">
            <a:avLst/>
          </a:prstGeom>
          <a:noFill/>
          <a:ln/>
        </p:spPr>
        <p:txBody>
          <a:bodyPr wrap="square" lIns="0" tIns="0" rIns="0" bIns="0" rtlCol="0" anchor="ctr"/>
          <a:lstStyle/>
          <a:p>
            <a:pPr marL="0" indent="0">
              <a:lnSpc>
                <a:spcPts val="1500"/>
              </a:lnSpc>
              <a:buNone/>
            </a:pPr>
            <a:r>
              <a:rPr lang="en-US" sz="1200" b="1" dirty="0">
                <a:solidFill>
                  <a:srgbClr val="FFFFFF"/>
                </a:solidFill>
                <a:latin typeface="Calibri" pitchFamily="34" charset="0"/>
                <a:ea typeface="Calibri" pitchFamily="34" charset="-122"/>
                <a:cs typeface="Calibri" pitchFamily="34" charset="-120"/>
              </a:rPr>
              <a:t>Distributed systems are complex</a:t>
            </a:r>
            <a:endParaRPr lang="en-US" sz="1200" dirty="0"/>
          </a:p>
          <a:p>
            <a:pPr marL="0" indent="0">
              <a:lnSpc>
                <a:spcPts val="1500"/>
              </a:lnSpc>
              <a:buNone/>
            </a:pPr>
            <a:r>
              <a:rPr lang="en-US" sz="1200" dirty="0">
                <a:solidFill>
                  <a:srgbClr val="C9CBD1"/>
                </a:solidFill>
                <a:latin typeface="Calibri" pitchFamily="34" charset="0"/>
                <a:ea typeface="Calibri" pitchFamily="34" charset="-122"/>
                <a:cs typeface="Calibri" pitchFamily="34" charset="-120"/>
              </a:rPr>
              <a:t>Many moving services make manual debugging slow and error-prone.</a:t>
            </a:r>
            <a:endParaRPr lang="en-US" sz="1200" dirty="0"/>
          </a:p>
        </p:txBody>
      </p:sp>
      <p:sp>
        <p:nvSpPr>
          <p:cNvPr id="10" name="Shape 7"/>
          <p:cNvSpPr/>
          <p:nvPr/>
        </p:nvSpPr>
        <p:spPr>
          <a:xfrm>
            <a:off x="868680" y="3273552"/>
            <a:ext cx="91440" cy="91440"/>
          </a:xfrm>
          <a:prstGeom prst="ellipse">
            <a:avLst/>
          </a:prstGeom>
          <a:solidFill>
            <a:srgbClr val="F5A623"/>
          </a:solidFill>
          <a:ln/>
        </p:spPr>
      </p:sp>
      <p:sp>
        <p:nvSpPr>
          <p:cNvPr id="11" name="Text 8"/>
          <p:cNvSpPr txBox="1"/>
          <p:nvPr/>
        </p:nvSpPr>
        <p:spPr>
          <a:xfrm>
            <a:off x="1115568" y="3127248"/>
            <a:ext cx="4526280" cy="731520"/>
          </a:xfrm>
          <a:prstGeom prst="rect">
            <a:avLst/>
          </a:prstGeom>
          <a:noFill/>
          <a:ln/>
        </p:spPr>
        <p:txBody>
          <a:bodyPr wrap="square" lIns="0" tIns="0" rIns="0" bIns="0" rtlCol="0" anchor="ctr"/>
          <a:lstStyle/>
          <a:p>
            <a:pPr marL="0" indent="0">
              <a:lnSpc>
                <a:spcPts val="1500"/>
              </a:lnSpc>
              <a:buNone/>
            </a:pPr>
            <a:r>
              <a:rPr lang="en-US" sz="1200" b="1" dirty="0">
                <a:solidFill>
                  <a:srgbClr val="FFFFFF"/>
                </a:solidFill>
                <a:latin typeface="Calibri" pitchFamily="34" charset="0"/>
                <a:ea typeface="Calibri" pitchFamily="34" charset="-122"/>
                <a:cs typeface="Calibri" pitchFamily="34" charset="-120"/>
              </a:rPr>
              <a:t>Repeated manual tasks</a:t>
            </a:r>
            <a:endParaRPr lang="en-US" sz="1200" dirty="0"/>
          </a:p>
          <a:p>
            <a:pPr marL="0" indent="0">
              <a:lnSpc>
                <a:spcPts val="1500"/>
              </a:lnSpc>
              <a:buNone/>
            </a:pPr>
            <a:r>
              <a:rPr lang="en-US" sz="1200" dirty="0">
                <a:solidFill>
                  <a:srgbClr val="C9CBD1"/>
                </a:solidFill>
                <a:latin typeface="Calibri" pitchFamily="34" charset="0"/>
                <a:ea typeface="Calibri" pitchFamily="34" charset="-122"/>
                <a:cs typeface="Calibri" pitchFamily="34" charset="-120"/>
              </a:rPr>
              <a:t>Engineers redo the same diagnostic steps for every similar incident.</a:t>
            </a:r>
            <a:endParaRPr lang="en-US" sz="1200" dirty="0"/>
          </a:p>
        </p:txBody>
      </p:sp>
      <p:sp>
        <p:nvSpPr>
          <p:cNvPr id="12" name="Shape 9"/>
          <p:cNvSpPr/>
          <p:nvPr/>
        </p:nvSpPr>
        <p:spPr>
          <a:xfrm>
            <a:off x="868680" y="4069080"/>
            <a:ext cx="91440" cy="91440"/>
          </a:xfrm>
          <a:prstGeom prst="ellipse">
            <a:avLst/>
          </a:prstGeom>
          <a:solidFill>
            <a:srgbClr val="F5A623"/>
          </a:solidFill>
          <a:ln/>
        </p:spPr>
      </p:sp>
      <p:sp>
        <p:nvSpPr>
          <p:cNvPr id="13" name="Text 10"/>
          <p:cNvSpPr txBox="1"/>
          <p:nvPr/>
        </p:nvSpPr>
        <p:spPr>
          <a:xfrm>
            <a:off x="1115568" y="3922776"/>
            <a:ext cx="4526280" cy="731520"/>
          </a:xfrm>
          <a:prstGeom prst="rect">
            <a:avLst/>
          </a:prstGeom>
          <a:noFill/>
          <a:ln/>
        </p:spPr>
        <p:txBody>
          <a:bodyPr wrap="square" lIns="0" tIns="0" rIns="0" bIns="0" rtlCol="0" anchor="ctr"/>
          <a:lstStyle/>
          <a:p>
            <a:pPr marL="0" indent="0">
              <a:lnSpc>
                <a:spcPts val="1500"/>
              </a:lnSpc>
              <a:buNone/>
            </a:pPr>
            <a:r>
              <a:rPr lang="en-US" sz="1200" b="1" dirty="0">
                <a:solidFill>
                  <a:srgbClr val="FFFFFF"/>
                </a:solidFill>
                <a:latin typeface="Calibri" pitchFamily="34" charset="0"/>
                <a:ea typeface="Calibri" pitchFamily="34" charset="-122"/>
                <a:cs typeface="Calibri" pitchFamily="34" charset="-120"/>
              </a:rPr>
              <a:t>Faster incident handling</a:t>
            </a:r>
            <a:endParaRPr lang="en-US" sz="1200" dirty="0"/>
          </a:p>
          <a:p>
            <a:pPr marL="0" indent="0">
              <a:lnSpc>
                <a:spcPts val="1500"/>
              </a:lnSpc>
              <a:buNone/>
            </a:pPr>
            <a:r>
              <a:rPr lang="en-US" sz="1200" dirty="0">
                <a:solidFill>
                  <a:srgbClr val="C9CBD1"/>
                </a:solidFill>
                <a:latin typeface="Calibri" pitchFamily="34" charset="0"/>
                <a:ea typeface="Calibri" pitchFamily="34" charset="-122"/>
                <a:cs typeface="Calibri" pitchFamily="34" charset="-120"/>
              </a:rPr>
              <a:t>Small teams need speed without a heavyweight enterprise platform.</a:t>
            </a:r>
            <a:endParaRPr lang="en-US" sz="1200" dirty="0"/>
          </a:p>
        </p:txBody>
      </p:sp>
      <p:sp>
        <p:nvSpPr>
          <p:cNvPr id="14" name="Shape 11"/>
          <p:cNvSpPr/>
          <p:nvPr/>
        </p:nvSpPr>
        <p:spPr>
          <a:xfrm>
            <a:off x="868680" y="4864608"/>
            <a:ext cx="91440" cy="91440"/>
          </a:xfrm>
          <a:prstGeom prst="ellipse">
            <a:avLst/>
          </a:prstGeom>
          <a:solidFill>
            <a:srgbClr val="F5A623"/>
          </a:solidFill>
          <a:ln/>
        </p:spPr>
      </p:sp>
      <p:sp>
        <p:nvSpPr>
          <p:cNvPr id="15" name="Text 12"/>
          <p:cNvSpPr txBox="1"/>
          <p:nvPr/>
        </p:nvSpPr>
        <p:spPr>
          <a:xfrm>
            <a:off x="1115568" y="4718304"/>
            <a:ext cx="4526280" cy="731520"/>
          </a:xfrm>
          <a:prstGeom prst="rect">
            <a:avLst/>
          </a:prstGeom>
          <a:noFill/>
          <a:ln/>
        </p:spPr>
        <p:txBody>
          <a:bodyPr wrap="square" lIns="0" tIns="0" rIns="0" bIns="0" rtlCol="0" anchor="ctr"/>
          <a:lstStyle/>
          <a:p>
            <a:pPr marL="0" indent="0">
              <a:lnSpc>
                <a:spcPts val="1500"/>
              </a:lnSpc>
              <a:buNone/>
            </a:pPr>
            <a:r>
              <a:rPr lang="en-US" sz="1200" b="1" dirty="0">
                <a:solidFill>
                  <a:srgbClr val="FFFFFF"/>
                </a:solidFill>
                <a:latin typeface="Calibri" pitchFamily="34" charset="0"/>
                <a:ea typeface="Calibri" pitchFamily="34" charset="-122"/>
                <a:cs typeface="Calibri" pitchFamily="34" charset="-120"/>
              </a:rPr>
              <a:t>Less downtime</a:t>
            </a:r>
            <a:endParaRPr lang="en-US" sz="1200" dirty="0"/>
          </a:p>
          <a:p>
            <a:pPr marL="0" indent="0">
              <a:lnSpc>
                <a:spcPts val="1500"/>
              </a:lnSpc>
              <a:buNone/>
            </a:pPr>
            <a:r>
              <a:rPr lang="en-US" sz="1200" dirty="0">
                <a:solidFill>
                  <a:srgbClr val="C9CBD1"/>
                </a:solidFill>
                <a:latin typeface="Calibri" pitchFamily="34" charset="0"/>
                <a:ea typeface="Calibri" pitchFamily="34" charset="-122"/>
                <a:cs typeface="Calibri" pitchFamily="34" charset="-120"/>
              </a:rPr>
              <a:t>Quicker detection and correlation shrink the outage window.</a:t>
            </a:r>
            <a:endParaRPr lang="en-US" sz="1200" dirty="0"/>
          </a:p>
        </p:txBody>
      </p:sp>
      <p:sp>
        <p:nvSpPr>
          <p:cNvPr id="16" name="Shape 13"/>
          <p:cNvSpPr/>
          <p:nvPr/>
        </p:nvSpPr>
        <p:spPr>
          <a:xfrm>
            <a:off x="868680" y="5660136"/>
            <a:ext cx="91440" cy="91440"/>
          </a:xfrm>
          <a:prstGeom prst="ellipse">
            <a:avLst/>
          </a:prstGeom>
          <a:solidFill>
            <a:srgbClr val="F5A623"/>
          </a:solidFill>
          <a:ln/>
        </p:spPr>
      </p:sp>
      <p:sp>
        <p:nvSpPr>
          <p:cNvPr id="17" name="Text 14"/>
          <p:cNvSpPr txBox="1"/>
          <p:nvPr/>
        </p:nvSpPr>
        <p:spPr>
          <a:xfrm>
            <a:off x="1115568" y="5513832"/>
            <a:ext cx="4526280" cy="731520"/>
          </a:xfrm>
          <a:prstGeom prst="rect">
            <a:avLst/>
          </a:prstGeom>
          <a:noFill/>
          <a:ln/>
        </p:spPr>
        <p:txBody>
          <a:bodyPr wrap="square" lIns="0" tIns="0" rIns="0" bIns="0" rtlCol="0" anchor="ctr"/>
          <a:lstStyle/>
          <a:p>
            <a:pPr marL="0" indent="0">
              <a:lnSpc>
                <a:spcPts val="1500"/>
              </a:lnSpc>
              <a:buNone/>
            </a:pPr>
            <a:r>
              <a:rPr lang="en-US" sz="1200" b="1" dirty="0">
                <a:solidFill>
                  <a:srgbClr val="FFFFFF"/>
                </a:solidFill>
                <a:latin typeface="Calibri" pitchFamily="34" charset="0"/>
                <a:ea typeface="Calibri" pitchFamily="34" charset="-122"/>
                <a:cs typeface="Calibri" pitchFamily="34" charset="-120"/>
              </a:rPr>
              <a:t>Real-world DevOps learning</a:t>
            </a:r>
            <a:endParaRPr lang="en-US" sz="1200" dirty="0"/>
          </a:p>
          <a:p>
            <a:pPr marL="0" indent="0">
              <a:lnSpc>
                <a:spcPts val="1500"/>
              </a:lnSpc>
              <a:buNone/>
            </a:pPr>
            <a:r>
              <a:rPr lang="en-US" sz="1200" dirty="0">
                <a:solidFill>
                  <a:srgbClr val="C9CBD1"/>
                </a:solidFill>
                <a:latin typeface="Calibri" pitchFamily="34" charset="0"/>
                <a:ea typeface="Calibri" pitchFamily="34" charset="-122"/>
                <a:cs typeface="Calibri" pitchFamily="34" charset="-120"/>
              </a:rPr>
              <a:t>Hands-on practice with Kubernetes, monitoring, and automation.</a:t>
            </a:r>
            <a:endParaRPr lang="en-US" sz="1200" dirty="0"/>
          </a:p>
        </p:txBody>
      </p:sp>
      <p:sp>
        <p:nvSpPr>
          <p:cNvPr id="18" name="Shape 15"/>
          <p:cNvSpPr/>
          <p:nvPr/>
        </p:nvSpPr>
        <p:spPr>
          <a:xfrm>
            <a:off x="6263640" y="1371600"/>
            <a:ext cx="5349240" cy="4800600"/>
          </a:xfrm>
          <a:prstGeom prst="roundRect">
            <a:avLst>
              <a:gd name="adj" fmla="val 2286"/>
            </a:avLst>
          </a:prstGeom>
          <a:solidFill>
            <a:srgbClr val="232428"/>
          </a:solidFill>
          <a:ln/>
        </p:spPr>
      </p:sp>
      <p:sp>
        <p:nvSpPr>
          <p:cNvPr id="19" name="Shape 16"/>
          <p:cNvSpPr/>
          <p:nvPr/>
        </p:nvSpPr>
        <p:spPr>
          <a:xfrm>
            <a:off x="6556248" y="1627632"/>
            <a:ext cx="640080" cy="640080"/>
          </a:xfrm>
          <a:prstGeom prst="ellipse">
            <a:avLst/>
          </a:prstGeom>
          <a:solidFill>
            <a:srgbClr val="F5A623"/>
          </a:solidFill>
          <a:ln/>
        </p:spPr>
      </p:sp>
      <p:pic>
        <p:nvPicPr>
          <p:cNvPr id="20" name="Image 1" descr="/home/claude/ppt/icons/speed.png"/>
          <p:cNvPicPr>
            <a:picLocks noChangeAspect="1"/>
          </p:cNvPicPr>
          <p:nvPr/>
        </p:nvPicPr>
        <p:blipFill>
          <a:blip r:embed="rId4"/>
          <a:stretch>
            <a:fillRect/>
          </a:stretch>
        </p:blipFill>
        <p:spPr>
          <a:xfrm>
            <a:off x="6709867" y="1781251"/>
            <a:ext cx="332842" cy="332842"/>
          </a:xfrm>
          <a:prstGeom prst="rect">
            <a:avLst/>
          </a:prstGeom>
        </p:spPr>
      </p:pic>
      <p:sp>
        <p:nvSpPr>
          <p:cNvPr id="21" name="Text 17"/>
          <p:cNvSpPr txBox="1"/>
          <p:nvPr/>
        </p:nvSpPr>
        <p:spPr>
          <a:xfrm>
            <a:off x="7315200" y="1627632"/>
            <a:ext cx="4114800" cy="6400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Impact</a:t>
            </a:r>
            <a:endParaRPr lang="en-US" sz="1700" dirty="0"/>
          </a:p>
        </p:txBody>
      </p:sp>
      <p:sp>
        <p:nvSpPr>
          <p:cNvPr id="22" name="Shape 18"/>
          <p:cNvSpPr/>
          <p:nvPr/>
        </p:nvSpPr>
        <p:spPr>
          <a:xfrm>
            <a:off x="6556248" y="2514600"/>
            <a:ext cx="566928" cy="566928"/>
          </a:xfrm>
          <a:prstGeom prst="ellipse">
            <a:avLst/>
          </a:prstGeom>
          <a:solidFill>
            <a:srgbClr val="34363C"/>
          </a:solidFill>
          <a:ln/>
        </p:spPr>
      </p:sp>
      <p:pic>
        <p:nvPicPr>
          <p:cNvPr id="23" name="Image 2" descr="/home/claude/ppt/icons/speed.png"/>
          <p:cNvPicPr>
            <a:picLocks noChangeAspect="1"/>
          </p:cNvPicPr>
          <p:nvPr/>
        </p:nvPicPr>
        <p:blipFill>
          <a:blip r:embed="rId4"/>
          <a:stretch>
            <a:fillRect/>
          </a:stretch>
        </p:blipFill>
        <p:spPr>
          <a:xfrm>
            <a:off x="6692311" y="2650663"/>
            <a:ext cx="294803" cy="294803"/>
          </a:xfrm>
          <a:prstGeom prst="rect">
            <a:avLst/>
          </a:prstGeom>
        </p:spPr>
      </p:pic>
      <p:sp>
        <p:nvSpPr>
          <p:cNvPr id="24" name="Text 19"/>
          <p:cNvSpPr txBox="1"/>
          <p:nvPr/>
        </p:nvSpPr>
        <p:spPr>
          <a:xfrm>
            <a:off x="7296912" y="2459736"/>
            <a:ext cx="4114800" cy="822960"/>
          </a:xfrm>
          <a:prstGeom prst="rect">
            <a:avLst/>
          </a:prstGeom>
          <a:noFill/>
          <a:ln/>
        </p:spPr>
        <p:txBody>
          <a:bodyPr wrap="square" lIns="0" tIns="0" rIns="0" bIns="0" rtlCol="0" anchor="t"/>
          <a:lstStyle/>
          <a:p>
            <a:pPr marL="0" indent="0">
              <a:lnSpc>
                <a:spcPts val="1600"/>
              </a:lnSpc>
              <a:buNone/>
            </a:pPr>
            <a:r>
              <a:rPr lang="en-US" sz="1250" b="1" dirty="0">
                <a:solidFill>
                  <a:srgbClr val="FFFFFF"/>
                </a:solidFill>
                <a:latin typeface="Calibri" pitchFamily="34" charset="0"/>
                <a:ea typeface="Calibri" pitchFamily="34" charset="-122"/>
                <a:cs typeface="Calibri" pitchFamily="34" charset="-120"/>
              </a:rPr>
              <a:t>Faster recovery</a:t>
            </a:r>
            <a:endParaRPr lang="en-US" sz="1250" dirty="0"/>
          </a:p>
          <a:p>
            <a:pPr marL="0" indent="0">
              <a:lnSpc>
                <a:spcPts val="1600"/>
              </a:lnSpc>
              <a:buNone/>
            </a:pPr>
            <a:r>
              <a:rPr lang="en-US" sz="1250" dirty="0">
                <a:solidFill>
                  <a:srgbClr val="C9CBD1"/>
                </a:solidFill>
                <a:latin typeface="Calibri" pitchFamily="34" charset="0"/>
                <a:ea typeface="Calibri" pitchFamily="34" charset="-122"/>
                <a:cs typeface="Calibri" pitchFamily="34" charset="-120"/>
              </a:rPr>
              <a:t>Incidents are grouped and diagnosed in minutes, not hours.</a:t>
            </a:r>
            <a:endParaRPr lang="en-US" sz="1250" dirty="0"/>
          </a:p>
        </p:txBody>
      </p:sp>
      <p:sp>
        <p:nvSpPr>
          <p:cNvPr id="25" name="Shape 20"/>
          <p:cNvSpPr/>
          <p:nvPr/>
        </p:nvSpPr>
        <p:spPr>
          <a:xfrm>
            <a:off x="6556248" y="3749040"/>
            <a:ext cx="566928" cy="566928"/>
          </a:xfrm>
          <a:prstGeom prst="ellipse">
            <a:avLst/>
          </a:prstGeom>
          <a:solidFill>
            <a:srgbClr val="34363C"/>
          </a:solidFill>
          <a:ln/>
        </p:spPr>
      </p:sp>
      <p:pic>
        <p:nvPicPr>
          <p:cNvPr id="26" name="Image 3" descr="/home/claude/ppt/icons/shield.png"/>
          <p:cNvPicPr>
            <a:picLocks noChangeAspect="1"/>
          </p:cNvPicPr>
          <p:nvPr/>
        </p:nvPicPr>
        <p:blipFill>
          <a:blip r:embed="rId5"/>
          <a:stretch>
            <a:fillRect/>
          </a:stretch>
        </p:blipFill>
        <p:spPr>
          <a:xfrm>
            <a:off x="6692311" y="3885103"/>
            <a:ext cx="294803" cy="294803"/>
          </a:xfrm>
          <a:prstGeom prst="rect">
            <a:avLst/>
          </a:prstGeom>
        </p:spPr>
      </p:pic>
      <p:sp>
        <p:nvSpPr>
          <p:cNvPr id="27" name="Text 21"/>
          <p:cNvSpPr txBox="1"/>
          <p:nvPr/>
        </p:nvSpPr>
        <p:spPr>
          <a:xfrm>
            <a:off x="7296912" y="3694176"/>
            <a:ext cx="4114800" cy="822960"/>
          </a:xfrm>
          <a:prstGeom prst="rect">
            <a:avLst/>
          </a:prstGeom>
          <a:noFill/>
          <a:ln/>
        </p:spPr>
        <p:txBody>
          <a:bodyPr wrap="square" lIns="0" tIns="0" rIns="0" bIns="0" rtlCol="0" anchor="t"/>
          <a:lstStyle/>
          <a:p>
            <a:pPr marL="0" indent="0">
              <a:lnSpc>
                <a:spcPts val="1600"/>
              </a:lnSpc>
              <a:buNone/>
            </a:pPr>
            <a:r>
              <a:rPr lang="en-US" sz="1250" b="1" dirty="0">
                <a:solidFill>
                  <a:srgbClr val="FFFFFF"/>
                </a:solidFill>
                <a:latin typeface="Calibri" pitchFamily="34" charset="0"/>
                <a:ea typeface="Calibri" pitchFamily="34" charset="-122"/>
                <a:cs typeface="Calibri" pitchFamily="34" charset="-120"/>
              </a:rPr>
              <a:t>Better reliability</a:t>
            </a:r>
            <a:endParaRPr lang="en-US" sz="1250" dirty="0"/>
          </a:p>
          <a:p>
            <a:pPr marL="0" indent="0">
              <a:lnSpc>
                <a:spcPts val="1600"/>
              </a:lnSpc>
              <a:buNone/>
            </a:pPr>
            <a:r>
              <a:rPr lang="en-US" sz="1250" dirty="0">
                <a:solidFill>
                  <a:srgbClr val="C9CBD1"/>
                </a:solidFill>
                <a:latin typeface="Calibri" pitchFamily="34" charset="0"/>
                <a:ea typeface="Calibri" pitchFamily="34" charset="-122"/>
                <a:cs typeface="Calibri" pitchFamily="34" charset="-120"/>
              </a:rPr>
              <a:t>Predictive alerts catch problems before users notice them.</a:t>
            </a:r>
            <a:endParaRPr lang="en-US" sz="1250" dirty="0"/>
          </a:p>
        </p:txBody>
      </p:sp>
      <p:sp>
        <p:nvSpPr>
          <p:cNvPr id="28" name="Shape 22"/>
          <p:cNvSpPr/>
          <p:nvPr/>
        </p:nvSpPr>
        <p:spPr>
          <a:xfrm>
            <a:off x="6556248" y="4983480"/>
            <a:ext cx="566928" cy="566928"/>
          </a:xfrm>
          <a:prstGeom prst="ellipse">
            <a:avLst/>
          </a:prstGeom>
          <a:solidFill>
            <a:srgbClr val="34363C"/>
          </a:solidFill>
          <a:ln/>
        </p:spPr>
      </p:sp>
      <p:pic>
        <p:nvPicPr>
          <p:cNvPr id="29" name="Image 4" descr="/home/claude/ppt/icons/fix.png"/>
          <p:cNvPicPr>
            <a:picLocks noChangeAspect="1"/>
          </p:cNvPicPr>
          <p:nvPr/>
        </p:nvPicPr>
        <p:blipFill>
          <a:blip r:embed="rId6"/>
          <a:stretch>
            <a:fillRect/>
          </a:stretch>
        </p:blipFill>
        <p:spPr>
          <a:xfrm>
            <a:off x="6692311" y="5119543"/>
            <a:ext cx="294803" cy="294803"/>
          </a:xfrm>
          <a:prstGeom prst="rect">
            <a:avLst/>
          </a:prstGeom>
        </p:spPr>
      </p:pic>
      <p:sp>
        <p:nvSpPr>
          <p:cNvPr id="30" name="Text 23"/>
          <p:cNvSpPr txBox="1"/>
          <p:nvPr/>
        </p:nvSpPr>
        <p:spPr>
          <a:xfrm>
            <a:off x="7296912" y="4928616"/>
            <a:ext cx="4114800" cy="822960"/>
          </a:xfrm>
          <a:prstGeom prst="rect">
            <a:avLst/>
          </a:prstGeom>
          <a:noFill/>
          <a:ln/>
        </p:spPr>
        <p:txBody>
          <a:bodyPr wrap="square" lIns="0" tIns="0" rIns="0" bIns="0" rtlCol="0" anchor="t"/>
          <a:lstStyle/>
          <a:p>
            <a:pPr marL="0" indent="0">
              <a:lnSpc>
                <a:spcPts val="1600"/>
              </a:lnSpc>
              <a:buNone/>
            </a:pPr>
            <a:r>
              <a:rPr lang="en-US" sz="1250" b="1" dirty="0">
                <a:solidFill>
                  <a:srgbClr val="FFFFFF"/>
                </a:solidFill>
                <a:latin typeface="Calibri" pitchFamily="34" charset="0"/>
                <a:ea typeface="Calibri" pitchFamily="34" charset="-122"/>
                <a:cs typeface="Calibri" pitchFamily="34" charset="-120"/>
              </a:rPr>
              <a:t>Reduced manual work</a:t>
            </a:r>
            <a:endParaRPr lang="en-US" sz="1250" dirty="0"/>
          </a:p>
          <a:p>
            <a:pPr marL="0" indent="0">
              <a:lnSpc>
                <a:spcPts val="1600"/>
              </a:lnSpc>
              <a:buNone/>
            </a:pPr>
            <a:r>
              <a:rPr lang="en-US" sz="1250" dirty="0">
                <a:solidFill>
                  <a:srgbClr val="C9CBD1"/>
                </a:solidFill>
                <a:latin typeface="Calibri" pitchFamily="34" charset="0"/>
                <a:ea typeface="Calibri" pitchFamily="34" charset="-122"/>
                <a:cs typeface="Calibri" pitchFamily="34" charset="-120"/>
              </a:rPr>
              <a:t>Auto-remediation and suggested commands cut repetitive effort.</a:t>
            </a:r>
            <a:endParaRPr lang="en-US" sz="1250" dirty="0"/>
          </a:p>
        </p:txBody>
      </p:sp>
      <p:sp>
        <p:nvSpPr>
          <p:cNvPr id="31" name="Text 24"/>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58595E"/>
                </a:solidFill>
                <a:latin typeface="Calibri" pitchFamily="34" charset="0"/>
                <a:ea typeface="Calibri" pitchFamily="34" charset="-122"/>
                <a:cs typeface="Calibri" pitchFamily="34" charset="-120"/>
              </a:rPr>
              <a:t>5</a:t>
            </a:r>
            <a:endParaRPr lang="en-US" sz="1000" dirty="0"/>
          </a:p>
        </p:txBody>
      </p:sp>
      <p:sp>
        <p:nvSpPr>
          <p:cNvPr id="32" name="Text 25"/>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45464B"/>
                </a:solidFill>
                <a:latin typeface="Calibri" pitchFamily="34" charset="0"/>
                <a:ea typeface="Calibri" pitchFamily="34" charset="-122"/>
                <a:cs typeface="Calibri" pitchFamily="34" charset="-120"/>
              </a:rPr>
              <a:t>DevOps Incident Management System</a:t>
            </a:r>
            <a:endParaRPr lang="en-US" sz="900" dirty="0"/>
          </a:p>
        </p:txBody>
      </p:sp>
      <p:pic>
        <p:nvPicPr>
          <p:cNvPr id="34" name="Picture 33">
            <a:extLst>
              <a:ext uri="{FF2B5EF4-FFF2-40B4-BE49-F238E27FC236}">
                <a16:creationId xmlns:a16="http://schemas.microsoft.com/office/drawing/2014/main" xmlns="" id="{0CE3CB51-F27A-CDE4-2E6A-3866960CC4EC}"/>
              </a:ext>
            </a:extLst>
          </p:cNvPr>
          <p:cNvPicPr>
            <a:picLocks noChangeAspect="1"/>
          </p:cNvPicPr>
          <p:nvPr/>
        </p:nvPicPr>
        <p:blipFill>
          <a:blip r:embed="rId7"/>
          <a:stretch>
            <a:fillRect/>
          </a:stretch>
        </p:blipFill>
        <p:spPr>
          <a:xfrm>
            <a:off x="10249380" y="0"/>
            <a:ext cx="1942620" cy="62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621792"/>
          </a:xfrm>
          <a:prstGeom prst="rect">
            <a:avLst/>
          </a:prstGeom>
          <a:noFill/>
          <a:ln/>
        </p:spPr>
        <p:txBody>
          <a:bodyPr wrap="square" rtlCol="0" anchor="ctr"/>
          <a:lstStyle/>
          <a:p>
            <a:pPr marL="0" indent="0">
              <a:buNone/>
            </a:pPr>
            <a:r>
              <a:rPr lang="en-US" sz="2900" b="1" dirty="0">
                <a:solidFill>
                  <a:srgbClr val="1E1F24"/>
                </a:solidFill>
                <a:latin typeface="Calibri" pitchFamily="34" charset="0"/>
                <a:ea typeface="Calibri" pitchFamily="34" charset="-122"/>
                <a:cs typeface="Calibri" pitchFamily="34" charset="-120"/>
              </a:rPr>
              <a:t>Features &amp; Technologies</a:t>
            </a:r>
            <a:endParaRPr lang="en-US" sz="2900" dirty="0"/>
          </a:p>
        </p:txBody>
      </p:sp>
      <p:sp>
        <p:nvSpPr>
          <p:cNvPr id="3" name="Shape 1"/>
          <p:cNvSpPr/>
          <p:nvPr/>
        </p:nvSpPr>
        <p:spPr>
          <a:xfrm>
            <a:off x="566928" y="960120"/>
            <a:ext cx="502920" cy="54864"/>
          </a:xfrm>
          <a:prstGeom prst="rect">
            <a:avLst/>
          </a:prstGeom>
          <a:solidFill>
            <a:srgbClr val="F5A623"/>
          </a:solidFill>
          <a:ln/>
        </p:spPr>
      </p:sp>
      <p:sp>
        <p:nvSpPr>
          <p:cNvPr id="4" name="Text 2"/>
          <p:cNvSpPr txBox="1"/>
          <p:nvPr/>
        </p:nvSpPr>
        <p:spPr>
          <a:xfrm>
            <a:off x="548640" y="1115568"/>
            <a:ext cx="3657600" cy="320040"/>
          </a:xfrm>
          <a:prstGeom prst="rect">
            <a:avLst/>
          </a:prstGeom>
          <a:noFill/>
          <a:ln/>
        </p:spPr>
        <p:txBody>
          <a:bodyPr wrap="square" rtlCol="0" anchor="ctr"/>
          <a:lstStyle/>
          <a:p>
            <a:pPr marL="0" indent="0">
              <a:buNone/>
            </a:pPr>
            <a:r>
              <a:rPr lang="en-US" sz="1500" b="1" dirty="0">
                <a:solidFill>
                  <a:srgbClr val="1E1F24"/>
                </a:solidFill>
                <a:latin typeface="Calibri" pitchFamily="34" charset="0"/>
                <a:ea typeface="Calibri" pitchFamily="34" charset="-122"/>
                <a:cs typeface="Calibri" pitchFamily="34" charset="-120"/>
              </a:rPr>
              <a:t>Features</a:t>
            </a:r>
            <a:endParaRPr lang="en-US" sz="1500" dirty="0"/>
          </a:p>
        </p:txBody>
      </p:sp>
      <p:sp>
        <p:nvSpPr>
          <p:cNvPr id="5" name="Shape 3"/>
          <p:cNvSpPr/>
          <p:nvPr/>
        </p:nvSpPr>
        <p:spPr>
          <a:xfrm>
            <a:off x="548640" y="1481328"/>
            <a:ext cx="1783080" cy="1691640"/>
          </a:xfrm>
          <a:prstGeom prst="roundRect">
            <a:avLst>
              <a:gd name="adj" fmla="val 5405"/>
            </a:avLst>
          </a:prstGeom>
          <a:solidFill>
            <a:srgbClr val="F3F3F5"/>
          </a:solidFill>
          <a:ln/>
        </p:spPr>
      </p:sp>
      <p:sp>
        <p:nvSpPr>
          <p:cNvPr id="6" name="Shape 4"/>
          <p:cNvSpPr/>
          <p:nvPr/>
        </p:nvSpPr>
        <p:spPr>
          <a:xfrm>
            <a:off x="1184148" y="1609344"/>
            <a:ext cx="512064" cy="512064"/>
          </a:xfrm>
          <a:prstGeom prst="ellipse">
            <a:avLst/>
          </a:prstGeom>
          <a:solidFill>
            <a:srgbClr val="34363C"/>
          </a:solidFill>
          <a:ln/>
        </p:spPr>
      </p:sp>
      <p:pic>
        <p:nvPicPr>
          <p:cNvPr id="7" name="Image 0" descr="/home/claude/ppt/icons/incident.png"/>
          <p:cNvPicPr>
            <a:picLocks noChangeAspect="1"/>
          </p:cNvPicPr>
          <p:nvPr/>
        </p:nvPicPr>
        <p:blipFill>
          <a:blip r:embed="rId3"/>
          <a:stretch>
            <a:fillRect/>
          </a:stretch>
        </p:blipFill>
        <p:spPr>
          <a:xfrm>
            <a:off x="1307043" y="1732239"/>
            <a:ext cx="266273" cy="266273"/>
          </a:xfrm>
          <a:prstGeom prst="rect">
            <a:avLst/>
          </a:prstGeom>
        </p:spPr>
      </p:pic>
      <p:sp>
        <p:nvSpPr>
          <p:cNvPr id="8" name="Text 5"/>
          <p:cNvSpPr txBox="1"/>
          <p:nvPr/>
        </p:nvSpPr>
        <p:spPr>
          <a:xfrm>
            <a:off x="603504" y="2212848"/>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Incident creation</a:t>
            </a:r>
            <a:endParaRPr lang="en-US" sz="1050" dirty="0"/>
          </a:p>
        </p:txBody>
      </p:sp>
      <p:sp>
        <p:nvSpPr>
          <p:cNvPr id="9" name="Text 6"/>
          <p:cNvSpPr txBox="1"/>
          <p:nvPr/>
        </p:nvSpPr>
        <p:spPr>
          <a:xfrm>
            <a:off x="621792" y="2542032"/>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Turns correlated alerts into one trackable record.</a:t>
            </a:r>
            <a:endParaRPr lang="en-US" sz="850" dirty="0"/>
          </a:p>
        </p:txBody>
      </p:sp>
      <p:sp>
        <p:nvSpPr>
          <p:cNvPr id="10" name="Shape 7"/>
          <p:cNvSpPr/>
          <p:nvPr/>
        </p:nvSpPr>
        <p:spPr>
          <a:xfrm>
            <a:off x="2414016" y="1481328"/>
            <a:ext cx="1783080" cy="1691640"/>
          </a:xfrm>
          <a:prstGeom prst="roundRect">
            <a:avLst>
              <a:gd name="adj" fmla="val 5405"/>
            </a:avLst>
          </a:prstGeom>
          <a:solidFill>
            <a:srgbClr val="F3F3F5"/>
          </a:solidFill>
          <a:ln/>
        </p:spPr>
      </p:sp>
      <p:sp>
        <p:nvSpPr>
          <p:cNvPr id="11" name="Shape 8"/>
          <p:cNvSpPr/>
          <p:nvPr/>
        </p:nvSpPr>
        <p:spPr>
          <a:xfrm>
            <a:off x="3049524" y="1609344"/>
            <a:ext cx="512064" cy="512064"/>
          </a:xfrm>
          <a:prstGeom prst="ellipse">
            <a:avLst/>
          </a:prstGeom>
          <a:solidFill>
            <a:srgbClr val="34363C"/>
          </a:solidFill>
          <a:ln/>
        </p:spPr>
      </p:sp>
      <p:pic>
        <p:nvPicPr>
          <p:cNvPr id="12" name="Image 1" descr="/home/claude/ppt/icons/assign.png"/>
          <p:cNvPicPr>
            <a:picLocks noChangeAspect="1"/>
          </p:cNvPicPr>
          <p:nvPr/>
        </p:nvPicPr>
        <p:blipFill>
          <a:blip r:embed="rId4"/>
          <a:stretch>
            <a:fillRect/>
          </a:stretch>
        </p:blipFill>
        <p:spPr>
          <a:xfrm>
            <a:off x="3172419" y="1732239"/>
            <a:ext cx="266273" cy="266273"/>
          </a:xfrm>
          <a:prstGeom prst="rect">
            <a:avLst/>
          </a:prstGeom>
        </p:spPr>
      </p:pic>
      <p:sp>
        <p:nvSpPr>
          <p:cNvPr id="13" name="Text 9"/>
          <p:cNvSpPr txBox="1"/>
          <p:nvPr/>
        </p:nvSpPr>
        <p:spPr>
          <a:xfrm>
            <a:off x="2468880" y="2212848"/>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Auto assignment</a:t>
            </a:r>
            <a:endParaRPr lang="en-US" sz="1050" dirty="0"/>
          </a:p>
        </p:txBody>
      </p:sp>
      <p:sp>
        <p:nvSpPr>
          <p:cNvPr id="14" name="Text 10"/>
          <p:cNvSpPr txBox="1"/>
          <p:nvPr/>
        </p:nvSpPr>
        <p:spPr>
          <a:xfrm>
            <a:off x="2487168" y="2542032"/>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Routes the incident to the right engineer instantly.</a:t>
            </a:r>
            <a:endParaRPr lang="en-US" sz="850" dirty="0"/>
          </a:p>
        </p:txBody>
      </p:sp>
      <p:sp>
        <p:nvSpPr>
          <p:cNvPr id="15" name="Shape 11"/>
          <p:cNvSpPr/>
          <p:nvPr/>
        </p:nvSpPr>
        <p:spPr>
          <a:xfrm>
            <a:off x="4279392" y="1481328"/>
            <a:ext cx="1783080" cy="1691640"/>
          </a:xfrm>
          <a:prstGeom prst="roundRect">
            <a:avLst>
              <a:gd name="adj" fmla="val 5405"/>
            </a:avLst>
          </a:prstGeom>
          <a:solidFill>
            <a:srgbClr val="F3F3F5"/>
          </a:solidFill>
          <a:ln/>
        </p:spPr>
      </p:sp>
      <p:sp>
        <p:nvSpPr>
          <p:cNvPr id="16" name="Shape 12"/>
          <p:cNvSpPr/>
          <p:nvPr/>
        </p:nvSpPr>
        <p:spPr>
          <a:xfrm>
            <a:off x="4914900" y="1609344"/>
            <a:ext cx="512064" cy="512064"/>
          </a:xfrm>
          <a:prstGeom prst="ellipse">
            <a:avLst/>
          </a:prstGeom>
          <a:solidFill>
            <a:srgbClr val="34363C"/>
          </a:solidFill>
          <a:ln/>
        </p:spPr>
      </p:sp>
      <p:pic>
        <p:nvPicPr>
          <p:cNvPr id="17" name="Image 2" descr="/home/claude/ppt/icons/merge.png"/>
          <p:cNvPicPr>
            <a:picLocks noChangeAspect="1"/>
          </p:cNvPicPr>
          <p:nvPr/>
        </p:nvPicPr>
        <p:blipFill>
          <a:blip r:embed="rId5"/>
          <a:stretch>
            <a:fillRect/>
          </a:stretch>
        </p:blipFill>
        <p:spPr>
          <a:xfrm>
            <a:off x="5037795" y="1732239"/>
            <a:ext cx="266273" cy="266273"/>
          </a:xfrm>
          <a:prstGeom prst="rect">
            <a:avLst/>
          </a:prstGeom>
        </p:spPr>
      </p:pic>
      <p:sp>
        <p:nvSpPr>
          <p:cNvPr id="18" name="Text 13"/>
          <p:cNvSpPr txBox="1"/>
          <p:nvPr/>
        </p:nvSpPr>
        <p:spPr>
          <a:xfrm>
            <a:off x="4334256" y="2212848"/>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Alert correlation</a:t>
            </a:r>
            <a:endParaRPr lang="en-US" sz="1050" dirty="0"/>
          </a:p>
        </p:txBody>
      </p:sp>
      <p:sp>
        <p:nvSpPr>
          <p:cNvPr id="19" name="Text 14"/>
          <p:cNvSpPr txBox="1"/>
          <p:nvPr/>
        </p:nvSpPr>
        <p:spPr>
          <a:xfrm>
            <a:off x="4352544" y="2542032"/>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Merges related alerts from different tools.</a:t>
            </a:r>
            <a:endParaRPr lang="en-US" sz="850" dirty="0"/>
          </a:p>
        </p:txBody>
      </p:sp>
      <p:sp>
        <p:nvSpPr>
          <p:cNvPr id="20" name="Shape 15"/>
          <p:cNvSpPr/>
          <p:nvPr/>
        </p:nvSpPr>
        <p:spPr>
          <a:xfrm>
            <a:off x="6144768" y="1481328"/>
            <a:ext cx="1783080" cy="1691640"/>
          </a:xfrm>
          <a:prstGeom prst="roundRect">
            <a:avLst>
              <a:gd name="adj" fmla="val 5405"/>
            </a:avLst>
          </a:prstGeom>
          <a:solidFill>
            <a:srgbClr val="F3F3F5"/>
          </a:solidFill>
          <a:ln/>
        </p:spPr>
      </p:sp>
      <p:sp>
        <p:nvSpPr>
          <p:cNvPr id="21" name="Shape 16"/>
          <p:cNvSpPr/>
          <p:nvPr/>
        </p:nvSpPr>
        <p:spPr>
          <a:xfrm>
            <a:off x="6780276" y="1609344"/>
            <a:ext cx="512064" cy="512064"/>
          </a:xfrm>
          <a:prstGeom prst="ellipse">
            <a:avLst/>
          </a:prstGeom>
          <a:solidFill>
            <a:srgbClr val="34363C"/>
          </a:solidFill>
          <a:ln/>
        </p:spPr>
      </p:sp>
      <p:pic>
        <p:nvPicPr>
          <p:cNvPr id="22" name="Image 3" descr="/home/claude/ppt/icons/search.png"/>
          <p:cNvPicPr>
            <a:picLocks noChangeAspect="1"/>
          </p:cNvPicPr>
          <p:nvPr/>
        </p:nvPicPr>
        <p:blipFill>
          <a:blip r:embed="rId6"/>
          <a:stretch>
            <a:fillRect/>
          </a:stretch>
        </p:blipFill>
        <p:spPr>
          <a:xfrm>
            <a:off x="6903171" y="1732239"/>
            <a:ext cx="266273" cy="266273"/>
          </a:xfrm>
          <a:prstGeom prst="rect">
            <a:avLst/>
          </a:prstGeom>
        </p:spPr>
      </p:pic>
      <p:sp>
        <p:nvSpPr>
          <p:cNvPr id="23" name="Text 17"/>
          <p:cNvSpPr txBox="1"/>
          <p:nvPr/>
        </p:nvSpPr>
        <p:spPr>
          <a:xfrm>
            <a:off x="6199632" y="2212848"/>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Smart suggestions</a:t>
            </a:r>
            <a:endParaRPr lang="en-US" sz="1050" dirty="0"/>
          </a:p>
        </p:txBody>
      </p:sp>
      <p:sp>
        <p:nvSpPr>
          <p:cNvPr id="24" name="Text 18"/>
          <p:cNvSpPr txBox="1"/>
          <p:nvPr/>
        </p:nvSpPr>
        <p:spPr>
          <a:xfrm>
            <a:off x="6217920" y="2542032"/>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Recommends a likely root cause and fix.</a:t>
            </a:r>
            <a:endParaRPr lang="en-US" sz="850" dirty="0"/>
          </a:p>
        </p:txBody>
      </p:sp>
      <p:sp>
        <p:nvSpPr>
          <p:cNvPr id="25" name="Shape 19"/>
          <p:cNvSpPr/>
          <p:nvPr/>
        </p:nvSpPr>
        <p:spPr>
          <a:xfrm>
            <a:off x="8010144" y="1481328"/>
            <a:ext cx="1783080" cy="1691640"/>
          </a:xfrm>
          <a:prstGeom prst="roundRect">
            <a:avLst>
              <a:gd name="adj" fmla="val 5405"/>
            </a:avLst>
          </a:prstGeom>
          <a:solidFill>
            <a:srgbClr val="F3F3F5"/>
          </a:solidFill>
          <a:ln/>
        </p:spPr>
      </p:sp>
      <p:sp>
        <p:nvSpPr>
          <p:cNvPr id="26" name="Shape 20"/>
          <p:cNvSpPr/>
          <p:nvPr/>
        </p:nvSpPr>
        <p:spPr>
          <a:xfrm>
            <a:off x="8645652" y="1609344"/>
            <a:ext cx="512064" cy="512064"/>
          </a:xfrm>
          <a:prstGeom prst="ellipse">
            <a:avLst/>
          </a:prstGeom>
          <a:solidFill>
            <a:srgbClr val="34363C"/>
          </a:solidFill>
          <a:ln/>
        </p:spPr>
      </p:sp>
      <p:pic>
        <p:nvPicPr>
          <p:cNvPr id="27" name="Image 4" descr="/home/claude/ppt/icons/autofix.png"/>
          <p:cNvPicPr>
            <a:picLocks noChangeAspect="1"/>
          </p:cNvPicPr>
          <p:nvPr/>
        </p:nvPicPr>
        <p:blipFill>
          <a:blip r:embed="rId7"/>
          <a:stretch>
            <a:fillRect/>
          </a:stretch>
        </p:blipFill>
        <p:spPr>
          <a:xfrm>
            <a:off x="8768547" y="1732239"/>
            <a:ext cx="266273" cy="266273"/>
          </a:xfrm>
          <a:prstGeom prst="rect">
            <a:avLst/>
          </a:prstGeom>
        </p:spPr>
      </p:pic>
      <p:sp>
        <p:nvSpPr>
          <p:cNvPr id="28" name="Text 21"/>
          <p:cNvSpPr txBox="1"/>
          <p:nvPr/>
        </p:nvSpPr>
        <p:spPr>
          <a:xfrm>
            <a:off x="8065008" y="2212848"/>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Auto fixing</a:t>
            </a:r>
            <a:endParaRPr lang="en-US" sz="1050" dirty="0"/>
          </a:p>
        </p:txBody>
      </p:sp>
      <p:sp>
        <p:nvSpPr>
          <p:cNvPr id="29" name="Text 22"/>
          <p:cNvSpPr txBox="1"/>
          <p:nvPr/>
        </p:nvSpPr>
        <p:spPr>
          <a:xfrm>
            <a:off x="8083296" y="2542032"/>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Runs safe, guarded remediation steps.</a:t>
            </a:r>
            <a:endParaRPr lang="en-US" sz="850" dirty="0"/>
          </a:p>
        </p:txBody>
      </p:sp>
      <p:sp>
        <p:nvSpPr>
          <p:cNvPr id="30" name="Shape 23"/>
          <p:cNvSpPr/>
          <p:nvPr/>
        </p:nvSpPr>
        <p:spPr>
          <a:xfrm>
            <a:off x="9875520" y="1481328"/>
            <a:ext cx="1783080" cy="1691640"/>
          </a:xfrm>
          <a:prstGeom prst="roundRect">
            <a:avLst>
              <a:gd name="adj" fmla="val 5405"/>
            </a:avLst>
          </a:prstGeom>
          <a:solidFill>
            <a:srgbClr val="F3F3F5"/>
          </a:solidFill>
          <a:ln/>
        </p:spPr>
      </p:sp>
      <p:sp>
        <p:nvSpPr>
          <p:cNvPr id="31" name="Shape 24"/>
          <p:cNvSpPr/>
          <p:nvPr/>
        </p:nvSpPr>
        <p:spPr>
          <a:xfrm>
            <a:off x="10511028" y="1609344"/>
            <a:ext cx="512064" cy="512064"/>
          </a:xfrm>
          <a:prstGeom prst="ellipse">
            <a:avLst/>
          </a:prstGeom>
          <a:solidFill>
            <a:srgbClr val="34363C"/>
          </a:solidFill>
          <a:ln/>
        </p:spPr>
      </p:sp>
      <p:pic>
        <p:nvPicPr>
          <p:cNvPr id="32" name="Image 5" descr="/home/claude/ppt/icons/dashboard.png"/>
          <p:cNvPicPr>
            <a:picLocks noChangeAspect="1"/>
          </p:cNvPicPr>
          <p:nvPr/>
        </p:nvPicPr>
        <p:blipFill>
          <a:blip r:embed="rId8"/>
          <a:stretch>
            <a:fillRect/>
          </a:stretch>
        </p:blipFill>
        <p:spPr>
          <a:xfrm>
            <a:off x="10633923" y="1732239"/>
            <a:ext cx="266273" cy="266273"/>
          </a:xfrm>
          <a:prstGeom prst="rect">
            <a:avLst/>
          </a:prstGeom>
        </p:spPr>
      </p:pic>
      <p:sp>
        <p:nvSpPr>
          <p:cNvPr id="33" name="Text 25"/>
          <p:cNvSpPr txBox="1"/>
          <p:nvPr/>
        </p:nvSpPr>
        <p:spPr>
          <a:xfrm>
            <a:off x="9930384" y="2212848"/>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Dashboard</a:t>
            </a:r>
            <a:endParaRPr lang="en-US" sz="1050" dirty="0"/>
          </a:p>
        </p:txBody>
      </p:sp>
      <p:sp>
        <p:nvSpPr>
          <p:cNvPr id="34" name="Text 26"/>
          <p:cNvSpPr txBox="1"/>
          <p:nvPr/>
        </p:nvSpPr>
        <p:spPr>
          <a:xfrm>
            <a:off x="9948672" y="2542032"/>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Gives a live view of every open incident.</a:t>
            </a:r>
            <a:endParaRPr lang="en-US" sz="850" dirty="0"/>
          </a:p>
        </p:txBody>
      </p:sp>
      <p:sp>
        <p:nvSpPr>
          <p:cNvPr id="35" name="Text 27"/>
          <p:cNvSpPr txBox="1"/>
          <p:nvPr/>
        </p:nvSpPr>
        <p:spPr>
          <a:xfrm>
            <a:off x="548640" y="3364992"/>
            <a:ext cx="3657600" cy="320040"/>
          </a:xfrm>
          <a:prstGeom prst="rect">
            <a:avLst/>
          </a:prstGeom>
          <a:noFill/>
          <a:ln/>
        </p:spPr>
        <p:txBody>
          <a:bodyPr wrap="square" rtlCol="0" anchor="ctr"/>
          <a:lstStyle/>
          <a:p>
            <a:pPr marL="0" indent="0">
              <a:buNone/>
            </a:pPr>
            <a:r>
              <a:rPr lang="en-US" sz="1500" b="1" dirty="0">
                <a:solidFill>
                  <a:srgbClr val="1E1F24"/>
                </a:solidFill>
                <a:latin typeface="Calibri" pitchFamily="34" charset="0"/>
                <a:ea typeface="Calibri" pitchFamily="34" charset="-122"/>
                <a:cs typeface="Calibri" pitchFamily="34" charset="-120"/>
              </a:rPr>
              <a:t>Technologies</a:t>
            </a:r>
            <a:endParaRPr lang="en-US" sz="1500" dirty="0"/>
          </a:p>
        </p:txBody>
      </p:sp>
      <p:sp>
        <p:nvSpPr>
          <p:cNvPr id="36" name="Shape 28"/>
          <p:cNvSpPr/>
          <p:nvPr/>
        </p:nvSpPr>
        <p:spPr>
          <a:xfrm>
            <a:off x="548640" y="3749040"/>
            <a:ext cx="1783080" cy="1691640"/>
          </a:xfrm>
          <a:prstGeom prst="roundRect">
            <a:avLst>
              <a:gd name="adj" fmla="val 5405"/>
            </a:avLst>
          </a:prstGeom>
          <a:solidFill>
            <a:srgbClr val="F3F3F5"/>
          </a:solidFill>
          <a:ln/>
        </p:spPr>
      </p:sp>
      <p:sp>
        <p:nvSpPr>
          <p:cNvPr id="37" name="Shape 29"/>
          <p:cNvSpPr/>
          <p:nvPr/>
        </p:nvSpPr>
        <p:spPr>
          <a:xfrm>
            <a:off x="1184148" y="3877056"/>
            <a:ext cx="512064" cy="512064"/>
          </a:xfrm>
          <a:prstGeom prst="ellipse">
            <a:avLst/>
          </a:prstGeom>
          <a:solidFill>
            <a:srgbClr val="F5A623"/>
          </a:solidFill>
          <a:ln/>
        </p:spPr>
      </p:sp>
      <p:pic>
        <p:nvPicPr>
          <p:cNvPr id="38" name="Image 6" descr="/home/claude/ppt/icons/cluster.png"/>
          <p:cNvPicPr>
            <a:picLocks noChangeAspect="1"/>
          </p:cNvPicPr>
          <p:nvPr/>
        </p:nvPicPr>
        <p:blipFill>
          <a:blip r:embed="rId9"/>
          <a:stretch>
            <a:fillRect/>
          </a:stretch>
        </p:blipFill>
        <p:spPr>
          <a:xfrm>
            <a:off x="1307043" y="3999951"/>
            <a:ext cx="266273" cy="266273"/>
          </a:xfrm>
          <a:prstGeom prst="rect">
            <a:avLst/>
          </a:prstGeom>
        </p:spPr>
      </p:pic>
      <p:sp>
        <p:nvSpPr>
          <p:cNvPr id="39" name="Text 30"/>
          <p:cNvSpPr txBox="1"/>
          <p:nvPr/>
        </p:nvSpPr>
        <p:spPr>
          <a:xfrm>
            <a:off x="603504" y="4480560"/>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Kubernetes</a:t>
            </a:r>
            <a:endParaRPr lang="en-US" sz="1050" dirty="0"/>
          </a:p>
        </p:txBody>
      </p:sp>
      <p:sp>
        <p:nvSpPr>
          <p:cNvPr id="40" name="Text 31"/>
          <p:cNvSpPr txBox="1"/>
          <p:nvPr/>
        </p:nvSpPr>
        <p:spPr>
          <a:xfrm>
            <a:off x="621792" y="4809744"/>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Orchestrates and controls the pods.</a:t>
            </a:r>
            <a:endParaRPr lang="en-US" sz="850" dirty="0"/>
          </a:p>
        </p:txBody>
      </p:sp>
      <p:sp>
        <p:nvSpPr>
          <p:cNvPr id="41" name="Shape 32"/>
          <p:cNvSpPr/>
          <p:nvPr/>
        </p:nvSpPr>
        <p:spPr>
          <a:xfrm>
            <a:off x="2414016" y="3749040"/>
            <a:ext cx="1783080" cy="1691640"/>
          </a:xfrm>
          <a:prstGeom prst="roundRect">
            <a:avLst>
              <a:gd name="adj" fmla="val 5405"/>
            </a:avLst>
          </a:prstGeom>
          <a:solidFill>
            <a:srgbClr val="F3F3F5"/>
          </a:solidFill>
          <a:ln/>
        </p:spPr>
      </p:sp>
      <p:sp>
        <p:nvSpPr>
          <p:cNvPr id="42" name="Shape 33"/>
          <p:cNvSpPr/>
          <p:nvPr/>
        </p:nvSpPr>
        <p:spPr>
          <a:xfrm>
            <a:off x="3049524" y="3877056"/>
            <a:ext cx="512064" cy="512064"/>
          </a:xfrm>
          <a:prstGeom prst="ellipse">
            <a:avLst/>
          </a:prstGeom>
          <a:solidFill>
            <a:srgbClr val="F5A623"/>
          </a:solidFill>
          <a:ln/>
        </p:spPr>
      </p:sp>
      <p:pic>
        <p:nvPicPr>
          <p:cNvPr id="43" name="Image 7" descr="/home/claude/ppt/icons/trend.png"/>
          <p:cNvPicPr>
            <a:picLocks noChangeAspect="1"/>
          </p:cNvPicPr>
          <p:nvPr/>
        </p:nvPicPr>
        <p:blipFill>
          <a:blip r:embed="rId10"/>
          <a:stretch>
            <a:fillRect/>
          </a:stretch>
        </p:blipFill>
        <p:spPr>
          <a:xfrm>
            <a:off x="3172419" y="3999951"/>
            <a:ext cx="266273" cy="266273"/>
          </a:xfrm>
          <a:prstGeom prst="rect">
            <a:avLst/>
          </a:prstGeom>
        </p:spPr>
      </p:pic>
      <p:sp>
        <p:nvSpPr>
          <p:cNvPr id="44" name="Text 34"/>
          <p:cNvSpPr txBox="1"/>
          <p:nvPr/>
        </p:nvSpPr>
        <p:spPr>
          <a:xfrm>
            <a:off x="2468880" y="4480560"/>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Prometheus</a:t>
            </a:r>
            <a:endParaRPr lang="en-US" sz="1050" dirty="0"/>
          </a:p>
        </p:txBody>
      </p:sp>
      <p:sp>
        <p:nvSpPr>
          <p:cNvPr id="45" name="Text 35"/>
          <p:cNvSpPr txBox="1"/>
          <p:nvPr/>
        </p:nvSpPr>
        <p:spPr>
          <a:xfrm>
            <a:off x="2487168" y="4809744"/>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Collects metrics and raises alerts.</a:t>
            </a:r>
            <a:endParaRPr lang="en-US" sz="850" dirty="0"/>
          </a:p>
        </p:txBody>
      </p:sp>
      <p:sp>
        <p:nvSpPr>
          <p:cNvPr id="46" name="Shape 36"/>
          <p:cNvSpPr/>
          <p:nvPr/>
        </p:nvSpPr>
        <p:spPr>
          <a:xfrm>
            <a:off x="4279392" y="3749040"/>
            <a:ext cx="1783080" cy="1691640"/>
          </a:xfrm>
          <a:prstGeom prst="roundRect">
            <a:avLst>
              <a:gd name="adj" fmla="val 5405"/>
            </a:avLst>
          </a:prstGeom>
          <a:solidFill>
            <a:srgbClr val="F3F3F5"/>
          </a:solidFill>
          <a:ln/>
        </p:spPr>
      </p:sp>
      <p:sp>
        <p:nvSpPr>
          <p:cNvPr id="47" name="Shape 37"/>
          <p:cNvSpPr/>
          <p:nvPr/>
        </p:nvSpPr>
        <p:spPr>
          <a:xfrm>
            <a:off x="4914900" y="3877056"/>
            <a:ext cx="512064" cy="512064"/>
          </a:xfrm>
          <a:prstGeom prst="ellipse">
            <a:avLst/>
          </a:prstGeom>
          <a:solidFill>
            <a:srgbClr val="F5A623"/>
          </a:solidFill>
          <a:ln/>
        </p:spPr>
      </p:sp>
      <p:pic>
        <p:nvPicPr>
          <p:cNvPr id="48" name="Image 8" descr="/home/claude/ppt/icons/terminal.png"/>
          <p:cNvPicPr>
            <a:picLocks noChangeAspect="1"/>
          </p:cNvPicPr>
          <p:nvPr/>
        </p:nvPicPr>
        <p:blipFill>
          <a:blip r:embed="rId11"/>
          <a:stretch>
            <a:fillRect/>
          </a:stretch>
        </p:blipFill>
        <p:spPr>
          <a:xfrm>
            <a:off x="5037795" y="3999951"/>
            <a:ext cx="266273" cy="266273"/>
          </a:xfrm>
          <a:prstGeom prst="rect">
            <a:avLst/>
          </a:prstGeom>
        </p:spPr>
      </p:pic>
      <p:sp>
        <p:nvSpPr>
          <p:cNvPr id="49" name="Text 38"/>
          <p:cNvSpPr txBox="1"/>
          <p:nvPr/>
        </p:nvSpPr>
        <p:spPr>
          <a:xfrm>
            <a:off x="4334256" y="4480560"/>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Node.js / Python</a:t>
            </a:r>
            <a:endParaRPr lang="en-US" sz="1050" dirty="0"/>
          </a:p>
        </p:txBody>
      </p:sp>
      <p:sp>
        <p:nvSpPr>
          <p:cNvPr id="50" name="Text 39"/>
          <p:cNvSpPr txBox="1"/>
          <p:nvPr/>
        </p:nvSpPr>
        <p:spPr>
          <a:xfrm>
            <a:off x="4352544" y="4809744"/>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Powers the backend API.</a:t>
            </a:r>
            <a:endParaRPr lang="en-US" sz="850" dirty="0"/>
          </a:p>
        </p:txBody>
      </p:sp>
      <p:sp>
        <p:nvSpPr>
          <p:cNvPr id="51" name="Shape 40"/>
          <p:cNvSpPr/>
          <p:nvPr/>
        </p:nvSpPr>
        <p:spPr>
          <a:xfrm>
            <a:off x="6144768" y="3749040"/>
            <a:ext cx="1783080" cy="1691640"/>
          </a:xfrm>
          <a:prstGeom prst="roundRect">
            <a:avLst>
              <a:gd name="adj" fmla="val 5405"/>
            </a:avLst>
          </a:prstGeom>
          <a:solidFill>
            <a:srgbClr val="F3F3F5"/>
          </a:solidFill>
          <a:ln/>
        </p:spPr>
      </p:sp>
      <p:sp>
        <p:nvSpPr>
          <p:cNvPr id="52" name="Shape 41"/>
          <p:cNvSpPr/>
          <p:nvPr/>
        </p:nvSpPr>
        <p:spPr>
          <a:xfrm>
            <a:off x="6780276" y="3877056"/>
            <a:ext cx="512064" cy="512064"/>
          </a:xfrm>
          <a:prstGeom prst="ellipse">
            <a:avLst/>
          </a:prstGeom>
          <a:solidFill>
            <a:srgbClr val="F5A623"/>
          </a:solidFill>
          <a:ln/>
        </p:spPr>
      </p:sp>
      <p:pic>
        <p:nvPicPr>
          <p:cNvPr id="53" name="Image 9" descr="/home/claude/ppt/icons/dashboard.png"/>
          <p:cNvPicPr>
            <a:picLocks noChangeAspect="1"/>
          </p:cNvPicPr>
          <p:nvPr/>
        </p:nvPicPr>
        <p:blipFill>
          <a:blip r:embed="rId8"/>
          <a:stretch>
            <a:fillRect/>
          </a:stretch>
        </p:blipFill>
        <p:spPr>
          <a:xfrm>
            <a:off x="6903171" y="3999951"/>
            <a:ext cx="266273" cy="266273"/>
          </a:xfrm>
          <a:prstGeom prst="rect">
            <a:avLst/>
          </a:prstGeom>
        </p:spPr>
      </p:pic>
      <p:sp>
        <p:nvSpPr>
          <p:cNvPr id="54" name="Text 42"/>
          <p:cNvSpPr txBox="1"/>
          <p:nvPr/>
        </p:nvSpPr>
        <p:spPr>
          <a:xfrm>
            <a:off x="6199632" y="4480560"/>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React</a:t>
            </a:r>
            <a:endParaRPr lang="en-US" sz="1050" dirty="0"/>
          </a:p>
        </p:txBody>
      </p:sp>
      <p:sp>
        <p:nvSpPr>
          <p:cNvPr id="55" name="Text 43"/>
          <p:cNvSpPr txBox="1"/>
          <p:nvPr/>
        </p:nvSpPr>
        <p:spPr>
          <a:xfrm>
            <a:off x="6217920" y="4809744"/>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Renders the operator dashboard.</a:t>
            </a:r>
            <a:endParaRPr lang="en-US" sz="850" dirty="0"/>
          </a:p>
        </p:txBody>
      </p:sp>
      <p:sp>
        <p:nvSpPr>
          <p:cNvPr id="56" name="Shape 44"/>
          <p:cNvSpPr/>
          <p:nvPr/>
        </p:nvSpPr>
        <p:spPr>
          <a:xfrm>
            <a:off x="8010144" y="3749040"/>
            <a:ext cx="1783080" cy="1691640"/>
          </a:xfrm>
          <a:prstGeom prst="roundRect">
            <a:avLst>
              <a:gd name="adj" fmla="val 5405"/>
            </a:avLst>
          </a:prstGeom>
          <a:solidFill>
            <a:srgbClr val="F3F3F5"/>
          </a:solidFill>
          <a:ln/>
        </p:spPr>
      </p:sp>
      <p:sp>
        <p:nvSpPr>
          <p:cNvPr id="57" name="Shape 45"/>
          <p:cNvSpPr/>
          <p:nvPr/>
        </p:nvSpPr>
        <p:spPr>
          <a:xfrm>
            <a:off x="8645652" y="3877056"/>
            <a:ext cx="512064" cy="512064"/>
          </a:xfrm>
          <a:prstGeom prst="ellipse">
            <a:avLst/>
          </a:prstGeom>
          <a:solidFill>
            <a:srgbClr val="F5A623"/>
          </a:solidFill>
          <a:ln/>
        </p:spPr>
      </p:sp>
      <p:pic>
        <p:nvPicPr>
          <p:cNvPr id="58" name="Image 10" descr="/home/claude/ppt/icons/db.png"/>
          <p:cNvPicPr>
            <a:picLocks noChangeAspect="1"/>
          </p:cNvPicPr>
          <p:nvPr/>
        </p:nvPicPr>
        <p:blipFill>
          <a:blip r:embed="rId12"/>
          <a:stretch>
            <a:fillRect/>
          </a:stretch>
        </p:blipFill>
        <p:spPr>
          <a:xfrm>
            <a:off x="8768547" y="3999951"/>
            <a:ext cx="266273" cy="266273"/>
          </a:xfrm>
          <a:prstGeom prst="rect">
            <a:avLst/>
          </a:prstGeom>
        </p:spPr>
      </p:pic>
      <p:sp>
        <p:nvSpPr>
          <p:cNvPr id="59" name="Text 46"/>
          <p:cNvSpPr txBox="1"/>
          <p:nvPr/>
        </p:nvSpPr>
        <p:spPr>
          <a:xfrm>
            <a:off x="8065008" y="4480560"/>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MongoDB</a:t>
            </a:r>
            <a:endParaRPr lang="en-US" sz="1050" dirty="0"/>
          </a:p>
        </p:txBody>
      </p:sp>
      <p:sp>
        <p:nvSpPr>
          <p:cNvPr id="60" name="Text 47"/>
          <p:cNvSpPr txBox="1"/>
          <p:nvPr/>
        </p:nvSpPr>
        <p:spPr>
          <a:xfrm>
            <a:off x="8083296" y="4809744"/>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Stores incident history.</a:t>
            </a:r>
            <a:endParaRPr lang="en-US" sz="850" dirty="0"/>
          </a:p>
        </p:txBody>
      </p:sp>
      <p:sp>
        <p:nvSpPr>
          <p:cNvPr id="61" name="Shape 48"/>
          <p:cNvSpPr/>
          <p:nvPr/>
        </p:nvSpPr>
        <p:spPr>
          <a:xfrm>
            <a:off x="9875520" y="3749040"/>
            <a:ext cx="1783080" cy="1691640"/>
          </a:xfrm>
          <a:prstGeom prst="roundRect">
            <a:avLst>
              <a:gd name="adj" fmla="val 5405"/>
            </a:avLst>
          </a:prstGeom>
          <a:solidFill>
            <a:srgbClr val="F3F3F5"/>
          </a:solidFill>
          <a:ln/>
        </p:spPr>
      </p:sp>
      <p:sp>
        <p:nvSpPr>
          <p:cNvPr id="62" name="Shape 49"/>
          <p:cNvSpPr/>
          <p:nvPr/>
        </p:nvSpPr>
        <p:spPr>
          <a:xfrm>
            <a:off x="10511028" y="3877056"/>
            <a:ext cx="512064" cy="512064"/>
          </a:xfrm>
          <a:prstGeom prst="ellipse">
            <a:avLst/>
          </a:prstGeom>
          <a:solidFill>
            <a:srgbClr val="F5A623"/>
          </a:solidFill>
          <a:ln/>
        </p:spPr>
      </p:sp>
      <p:pic>
        <p:nvPicPr>
          <p:cNvPr id="63" name="Image 11" descr="/home/claude/ppt/icons/build.png"/>
          <p:cNvPicPr>
            <a:picLocks noChangeAspect="1"/>
          </p:cNvPicPr>
          <p:nvPr/>
        </p:nvPicPr>
        <p:blipFill>
          <a:blip r:embed="rId13"/>
          <a:stretch>
            <a:fillRect/>
          </a:stretch>
        </p:blipFill>
        <p:spPr>
          <a:xfrm>
            <a:off x="10633923" y="3999951"/>
            <a:ext cx="266273" cy="266273"/>
          </a:xfrm>
          <a:prstGeom prst="rect">
            <a:avLst/>
          </a:prstGeom>
        </p:spPr>
      </p:pic>
      <p:sp>
        <p:nvSpPr>
          <p:cNvPr id="64" name="Text 50"/>
          <p:cNvSpPr txBox="1"/>
          <p:nvPr/>
        </p:nvSpPr>
        <p:spPr>
          <a:xfrm>
            <a:off x="9930384" y="4480560"/>
            <a:ext cx="1673352" cy="329184"/>
          </a:xfrm>
          <a:prstGeom prst="rect">
            <a:avLst/>
          </a:prstGeom>
          <a:noFill/>
          <a:ln/>
        </p:spPr>
        <p:txBody>
          <a:bodyPr wrap="square" lIns="0" tIns="0" rIns="0" bIns="0" rtlCol="0" anchor="ctr"/>
          <a:lstStyle/>
          <a:p>
            <a:pPr marL="0" indent="0" algn="ctr">
              <a:lnSpc>
                <a:spcPts val="1200"/>
              </a:lnSpc>
              <a:buNone/>
            </a:pPr>
            <a:r>
              <a:rPr lang="en-US" sz="1050" b="1" dirty="0">
                <a:solidFill>
                  <a:srgbClr val="1E1F24"/>
                </a:solidFill>
                <a:latin typeface="Calibri" pitchFamily="34" charset="0"/>
                <a:ea typeface="Calibri" pitchFamily="34" charset="-122"/>
                <a:cs typeface="Calibri" pitchFamily="34" charset="-120"/>
              </a:rPr>
              <a:t>Docker</a:t>
            </a:r>
            <a:endParaRPr lang="en-US" sz="1050" dirty="0"/>
          </a:p>
        </p:txBody>
      </p:sp>
      <p:sp>
        <p:nvSpPr>
          <p:cNvPr id="65" name="Text 51"/>
          <p:cNvSpPr txBox="1"/>
          <p:nvPr/>
        </p:nvSpPr>
        <p:spPr>
          <a:xfrm>
            <a:off x="9948672" y="4809744"/>
            <a:ext cx="1636776" cy="548640"/>
          </a:xfrm>
          <a:prstGeom prst="rect">
            <a:avLst/>
          </a:prstGeom>
          <a:noFill/>
          <a:ln/>
        </p:spPr>
        <p:txBody>
          <a:bodyPr wrap="square" lIns="0" tIns="0" rIns="0" bIns="0" rtlCol="0" anchor="ctr"/>
          <a:lstStyle/>
          <a:p>
            <a:pPr marL="0" indent="0" algn="ctr">
              <a:lnSpc>
                <a:spcPts val="1000"/>
              </a:lnSpc>
              <a:buNone/>
            </a:pPr>
            <a:r>
              <a:rPr lang="en-US" sz="850" dirty="0">
                <a:solidFill>
                  <a:srgbClr val="6B6F76"/>
                </a:solidFill>
                <a:latin typeface="Calibri" pitchFamily="34" charset="0"/>
                <a:ea typeface="Calibri" pitchFamily="34" charset="-122"/>
                <a:cs typeface="Calibri" pitchFamily="34" charset="-120"/>
              </a:rPr>
              <a:t>Packages the app for deployment.</a:t>
            </a:r>
            <a:endParaRPr lang="en-US" sz="850" dirty="0"/>
          </a:p>
        </p:txBody>
      </p:sp>
      <p:sp>
        <p:nvSpPr>
          <p:cNvPr id="66" name="Shape 52"/>
          <p:cNvSpPr/>
          <p:nvPr/>
        </p:nvSpPr>
        <p:spPr>
          <a:xfrm>
            <a:off x="548640" y="5623560"/>
            <a:ext cx="11064240" cy="658368"/>
          </a:xfrm>
          <a:prstGeom prst="roundRect">
            <a:avLst>
              <a:gd name="adj" fmla="val 13889"/>
            </a:avLst>
          </a:prstGeom>
          <a:solidFill>
            <a:srgbClr val="34363C"/>
          </a:solidFill>
          <a:ln/>
        </p:spPr>
      </p:sp>
      <p:sp>
        <p:nvSpPr>
          <p:cNvPr id="67" name="Text 53"/>
          <p:cNvSpPr txBox="1"/>
          <p:nvPr/>
        </p:nvSpPr>
        <p:spPr>
          <a:xfrm>
            <a:off x="822960" y="5623560"/>
            <a:ext cx="10515600" cy="658368"/>
          </a:xfrm>
          <a:prstGeom prst="rect">
            <a:avLst/>
          </a:prstGeom>
          <a:noFill/>
          <a:ln/>
        </p:spPr>
        <p:txBody>
          <a:bodyPr wrap="square" rtlCol="0" anchor="ctr"/>
          <a:lstStyle/>
          <a:p>
            <a:pPr marL="0" indent="0">
              <a:buNone/>
            </a:pPr>
            <a:r>
              <a:rPr lang="en-US" sz="1450" b="1" i="1" dirty="0">
                <a:solidFill>
                  <a:srgbClr val="FFFFFF"/>
                </a:solidFill>
                <a:latin typeface="Calibri" pitchFamily="34" charset="0"/>
                <a:ea typeface="Calibri" pitchFamily="34" charset="-122"/>
                <a:cs typeface="Calibri" pitchFamily="34" charset="-120"/>
              </a:rPr>
              <a:t>These tools help monitor, analyze, and fix system issues efficiently.</a:t>
            </a:r>
            <a:endParaRPr lang="en-US" sz="1450" dirty="0"/>
          </a:p>
        </p:txBody>
      </p:sp>
      <p:sp>
        <p:nvSpPr>
          <p:cNvPr id="68" name="Text 54"/>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AFB1B8"/>
                </a:solidFill>
                <a:latin typeface="Calibri" pitchFamily="34" charset="0"/>
                <a:ea typeface="Calibri" pitchFamily="34" charset="-122"/>
                <a:cs typeface="Calibri" pitchFamily="34" charset="-120"/>
              </a:rPr>
              <a:t>6</a:t>
            </a:r>
            <a:endParaRPr lang="en-US" sz="1000" dirty="0"/>
          </a:p>
        </p:txBody>
      </p:sp>
      <p:sp>
        <p:nvSpPr>
          <p:cNvPr id="69" name="Text 55"/>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C7C9CE"/>
                </a:solidFill>
                <a:latin typeface="Calibri" pitchFamily="34" charset="0"/>
                <a:ea typeface="Calibri" pitchFamily="34" charset="-122"/>
                <a:cs typeface="Calibri" pitchFamily="34" charset="-120"/>
              </a:rPr>
              <a:t>DevOps Incident Management System</a:t>
            </a:r>
            <a:endParaRPr lang="en-US" sz="900" dirty="0"/>
          </a:p>
        </p:txBody>
      </p:sp>
      <p:pic>
        <p:nvPicPr>
          <p:cNvPr id="71" name="Picture 70">
            <a:extLst>
              <a:ext uri="{FF2B5EF4-FFF2-40B4-BE49-F238E27FC236}">
                <a16:creationId xmlns:a16="http://schemas.microsoft.com/office/drawing/2014/main" xmlns="" id="{D7FB2BD1-2120-9D9D-95EF-722162E60DFE}"/>
              </a:ext>
            </a:extLst>
          </p:cNvPr>
          <p:cNvPicPr>
            <a:picLocks noChangeAspect="1"/>
          </p:cNvPicPr>
          <p:nvPr/>
        </p:nvPicPr>
        <p:blipFill>
          <a:blip r:embed="rId14"/>
          <a:stretch>
            <a:fillRect/>
          </a:stretch>
        </p:blipFill>
        <p:spPr>
          <a:xfrm>
            <a:off x="10249380" y="0"/>
            <a:ext cx="1942620" cy="62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marL="0" indent="0">
              <a:buNone/>
            </a:pPr>
            <a:r>
              <a:rPr lang="en-US" sz="2500" b="1" dirty="0">
                <a:solidFill>
                  <a:srgbClr val="1E1F24"/>
                </a:solidFill>
                <a:latin typeface="Calibri" pitchFamily="34" charset="0"/>
                <a:ea typeface="Calibri" pitchFamily="34" charset="-122"/>
                <a:cs typeface="Calibri" pitchFamily="34" charset="-120"/>
              </a:rPr>
              <a:t>Flow Diagrams</a:t>
            </a:r>
            <a:endParaRPr lang="en-US" sz="2500" dirty="0"/>
          </a:p>
        </p:txBody>
      </p:sp>
      <p:sp>
        <p:nvSpPr>
          <p:cNvPr id="3" name="Shape 1"/>
          <p:cNvSpPr/>
          <p:nvPr/>
        </p:nvSpPr>
        <p:spPr>
          <a:xfrm>
            <a:off x="475488" y="822960"/>
            <a:ext cx="502920" cy="45720"/>
          </a:xfrm>
          <a:prstGeom prst="rect">
            <a:avLst/>
          </a:prstGeom>
          <a:solidFill>
            <a:srgbClr val="F5A623"/>
          </a:solidFill>
          <a:ln/>
        </p:spPr>
      </p:sp>
      <p:sp>
        <p:nvSpPr>
          <p:cNvPr id="4" name="Text 2"/>
          <p:cNvSpPr txBox="1"/>
          <p:nvPr/>
        </p:nvSpPr>
        <p:spPr>
          <a:xfrm>
            <a:off x="457200" y="932688"/>
            <a:ext cx="5394960" cy="292608"/>
          </a:xfrm>
          <a:prstGeom prst="rect">
            <a:avLst/>
          </a:prstGeom>
          <a:noFill/>
          <a:ln/>
        </p:spPr>
        <p:txBody>
          <a:bodyPr wrap="square" rtlCol="0" anchor="ctr"/>
          <a:lstStyle/>
          <a:p>
            <a:pPr marL="0" indent="0">
              <a:buNone/>
            </a:pPr>
            <a:r>
              <a:rPr lang="en-US" sz="1350" b="1" dirty="0">
                <a:solidFill>
                  <a:srgbClr val="1E1F24"/>
                </a:solidFill>
                <a:latin typeface="Calibri" pitchFamily="34" charset="0"/>
                <a:ea typeface="Calibri" pitchFamily="34" charset="-122"/>
                <a:cs typeface="Calibri" pitchFamily="34" charset="-120"/>
              </a:rPr>
              <a:t>1. System Architecture</a:t>
            </a:r>
            <a:endParaRPr lang="en-US" sz="1350" dirty="0"/>
          </a:p>
        </p:txBody>
      </p:sp>
      <p:sp>
        <p:nvSpPr>
          <p:cNvPr id="5" name="Text 3"/>
          <p:cNvSpPr txBox="1"/>
          <p:nvPr/>
        </p:nvSpPr>
        <p:spPr>
          <a:xfrm>
            <a:off x="457200" y="1207008"/>
            <a:ext cx="5394960" cy="256032"/>
          </a:xfrm>
          <a:prstGeom prst="rect">
            <a:avLst/>
          </a:prstGeom>
          <a:noFill/>
          <a:ln/>
        </p:spPr>
        <p:txBody>
          <a:bodyPr wrap="square" rtlCol="0" anchor="ctr"/>
          <a:lstStyle/>
          <a:p>
            <a:pPr marL="0" indent="0">
              <a:buNone/>
            </a:pPr>
            <a:r>
              <a:rPr lang="en-US" sz="1000" i="1" dirty="0">
                <a:solidFill>
                  <a:srgbClr val="6B6F76"/>
                </a:solidFill>
                <a:latin typeface="Calibri" pitchFamily="34" charset="0"/>
                <a:ea typeface="Calibri" pitchFamily="34" charset="-122"/>
                <a:cs typeface="Calibri" pitchFamily="34" charset="-120"/>
              </a:rPr>
              <a:t>How data flows from monitoring to a fix.</a:t>
            </a:r>
            <a:endParaRPr lang="en-US" sz="1000" dirty="0"/>
          </a:p>
        </p:txBody>
      </p:sp>
      <p:sp>
        <p:nvSpPr>
          <p:cNvPr id="6" name="Shape 4"/>
          <p:cNvSpPr/>
          <p:nvPr/>
        </p:nvSpPr>
        <p:spPr>
          <a:xfrm>
            <a:off x="457200" y="1572768"/>
            <a:ext cx="4069080" cy="484632"/>
          </a:xfrm>
          <a:prstGeom prst="roundRect">
            <a:avLst>
              <a:gd name="adj" fmla="val 15094"/>
            </a:avLst>
          </a:prstGeom>
          <a:solidFill>
            <a:srgbClr val="F3F3F5"/>
          </a:solidFill>
          <a:ln w="13970">
            <a:solidFill>
              <a:srgbClr val="34363C"/>
            </a:solidFill>
            <a:prstDash val="solid"/>
          </a:ln>
        </p:spPr>
      </p:sp>
      <p:sp>
        <p:nvSpPr>
          <p:cNvPr id="7" name="Text 5"/>
          <p:cNvSpPr txBox="1"/>
          <p:nvPr/>
        </p:nvSpPr>
        <p:spPr>
          <a:xfrm>
            <a:off x="457200" y="1572768"/>
            <a:ext cx="406908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Monitoring</a:t>
            </a:r>
            <a:endParaRPr lang="en-US" sz="1250" dirty="0"/>
          </a:p>
        </p:txBody>
      </p:sp>
      <p:sp>
        <p:nvSpPr>
          <p:cNvPr id="8" name="Shape 6"/>
          <p:cNvSpPr/>
          <p:nvPr/>
        </p:nvSpPr>
        <p:spPr>
          <a:xfrm>
            <a:off x="2491740" y="2057400"/>
            <a:ext cx="914" cy="123444"/>
          </a:xfrm>
          <a:prstGeom prst="line">
            <a:avLst/>
          </a:prstGeom>
          <a:noFill/>
          <a:ln w="22225">
            <a:solidFill>
              <a:srgbClr val="34363C"/>
            </a:solidFill>
            <a:prstDash val="solid"/>
            <a:tailEnd type="triangle"/>
          </a:ln>
        </p:spPr>
      </p:sp>
      <p:sp>
        <p:nvSpPr>
          <p:cNvPr id="9" name="Shape 7"/>
          <p:cNvSpPr/>
          <p:nvPr/>
        </p:nvSpPr>
        <p:spPr>
          <a:xfrm>
            <a:off x="457200" y="2180844"/>
            <a:ext cx="4069080" cy="484632"/>
          </a:xfrm>
          <a:prstGeom prst="roundRect">
            <a:avLst>
              <a:gd name="adj" fmla="val 15094"/>
            </a:avLst>
          </a:prstGeom>
          <a:solidFill>
            <a:srgbClr val="F3F3F5"/>
          </a:solidFill>
          <a:ln w="13970">
            <a:solidFill>
              <a:srgbClr val="34363C"/>
            </a:solidFill>
            <a:prstDash val="solid"/>
          </a:ln>
        </p:spPr>
      </p:sp>
      <p:sp>
        <p:nvSpPr>
          <p:cNvPr id="10" name="Text 8"/>
          <p:cNvSpPr txBox="1"/>
          <p:nvPr/>
        </p:nvSpPr>
        <p:spPr>
          <a:xfrm>
            <a:off x="457200" y="2180844"/>
            <a:ext cx="406908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Alert</a:t>
            </a:r>
            <a:endParaRPr lang="en-US" sz="1250" dirty="0"/>
          </a:p>
        </p:txBody>
      </p:sp>
      <p:sp>
        <p:nvSpPr>
          <p:cNvPr id="11" name="Shape 9"/>
          <p:cNvSpPr/>
          <p:nvPr/>
        </p:nvSpPr>
        <p:spPr>
          <a:xfrm>
            <a:off x="2491740" y="2665476"/>
            <a:ext cx="914" cy="123444"/>
          </a:xfrm>
          <a:prstGeom prst="line">
            <a:avLst/>
          </a:prstGeom>
          <a:noFill/>
          <a:ln w="22225">
            <a:solidFill>
              <a:srgbClr val="34363C"/>
            </a:solidFill>
            <a:prstDash val="solid"/>
            <a:tailEnd type="triangle"/>
          </a:ln>
        </p:spPr>
      </p:sp>
      <p:sp>
        <p:nvSpPr>
          <p:cNvPr id="12" name="Shape 10"/>
          <p:cNvSpPr/>
          <p:nvPr/>
        </p:nvSpPr>
        <p:spPr>
          <a:xfrm>
            <a:off x="457200" y="2788920"/>
            <a:ext cx="4069080" cy="484632"/>
          </a:xfrm>
          <a:prstGeom prst="roundRect">
            <a:avLst>
              <a:gd name="adj" fmla="val 15094"/>
            </a:avLst>
          </a:prstGeom>
          <a:solidFill>
            <a:srgbClr val="F3F3F5"/>
          </a:solidFill>
          <a:ln w="13970">
            <a:solidFill>
              <a:srgbClr val="34363C"/>
            </a:solidFill>
            <a:prstDash val="solid"/>
          </a:ln>
        </p:spPr>
      </p:sp>
      <p:sp>
        <p:nvSpPr>
          <p:cNvPr id="13" name="Text 11"/>
          <p:cNvSpPr txBox="1"/>
          <p:nvPr/>
        </p:nvSpPr>
        <p:spPr>
          <a:xfrm>
            <a:off x="457200" y="2788920"/>
            <a:ext cx="406908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Backend</a:t>
            </a:r>
            <a:endParaRPr lang="en-US" sz="1250" dirty="0"/>
          </a:p>
        </p:txBody>
      </p:sp>
      <p:sp>
        <p:nvSpPr>
          <p:cNvPr id="14" name="Shape 12"/>
          <p:cNvSpPr/>
          <p:nvPr/>
        </p:nvSpPr>
        <p:spPr>
          <a:xfrm>
            <a:off x="2491740" y="3273552"/>
            <a:ext cx="914" cy="123444"/>
          </a:xfrm>
          <a:prstGeom prst="line">
            <a:avLst/>
          </a:prstGeom>
          <a:noFill/>
          <a:ln w="22225">
            <a:solidFill>
              <a:srgbClr val="34363C"/>
            </a:solidFill>
            <a:prstDash val="solid"/>
            <a:tailEnd type="triangle"/>
          </a:ln>
        </p:spPr>
      </p:sp>
      <p:sp>
        <p:nvSpPr>
          <p:cNvPr id="15" name="Shape 13"/>
          <p:cNvSpPr/>
          <p:nvPr/>
        </p:nvSpPr>
        <p:spPr>
          <a:xfrm>
            <a:off x="457200" y="3396996"/>
            <a:ext cx="4069080" cy="484632"/>
          </a:xfrm>
          <a:prstGeom prst="roundRect">
            <a:avLst>
              <a:gd name="adj" fmla="val 15094"/>
            </a:avLst>
          </a:prstGeom>
          <a:solidFill>
            <a:srgbClr val="F3F3F5"/>
          </a:solidFill>
          <a:ln w="13970">
            <a:solidFill>
              <a:srgbClr val="34363C"/>
            </a:solidFill>
            <a:prstDash val="solid"/>
          </a:ln>
        </p:spPr>
      </p:sp>
      <p:sp>
        <p:nvSpPr>
          <p:cNvPr id="16" name="Text 14"/>
          <p:cNvSpPr txBox="1"/>
          <p:nvPr/>
        </p:nvSpPr>
        <p:spPr>
          <a:xfrm>
            <a:off x="457200" y="3396996"/>
            <a:ext cx="406908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Incident Manager</a:t>
            </a:r>
            <a:endParaRPr lang="en-US" sz="1250" dirty="0"/>
          </a:p>
        </p:txBody>
      </p:sp>
      <p:sp>
        <p:nvSpPr>
          <p:cNvPr id="17" name="Shape 15"/>
          <p:cNvSpPr/>
          <p:nvPr/>
        </p:nvSpPr>
        <p:spPr>
          <a:xfrm>
            <a:off x="2491740" y="3881628"/>
            <a:ext cx="914" cy="123444"/>
          </a:xfrm>
          <a:prstGeom prst="line">
            <a:avLst/>
          </a:prstGeom>
          <a:noFill/>
          <a:ln w="22225">
            <a:solidFill>
              <a:srgbClr val="34363C"/>
            </a:solidFill>
            <a:prstDash val="solid"/>
            <a:tailEnd type="triangle"/>
          </a:ln>
        </p:spPr>
      </p:sp>
      <p:sp>
        <p:nvSpPr>
          <p:cNvPr id="18" name="Shape 16"/>
          <p:cNvSpPr/>
          <p:nvPr/>
        </p:nvSpPr>
        <p:spPr>
          <a:xfrm>
            <a:off x="457200" y="4005072"/>
            <a:ext cx="4069080" cy="484632"/>
          </a:xfrm>
          <a:prstGeom prst="roundRect">
            <a:avLst>
              <a:gd name="adj" fmla="val 15094"/>
            </a:avLst>
          </a:prstGeom>
          <a:solidFill>
            <a:srgbClr val="F3F3F5"/>
          </a:solidFill>
          <a:ln w="13970">
            <a:solidFill>
              <a:srgbClr val="34363C"/>
            </a:solidFill>
            <a:prstDash val="solid"/>
          </a:ln>
        </p:spPr>
      </p:sp>
      <p:sp>
        <p:nvSpPr>
          <p:cNvPr id="19" name="Text 17"/>
          <p:cNvSpPr txBox="1"/>
          <p:nvPr/>
        </p:nvSpPr>
        <p:spPr>
          <a:xfrm>
            <a:off x="457200" y="4005072"/>
            <a:ext cx="406908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Notification</a:t>
            </a:r>
            <a:endParaRPr lang="en-US" sz="1250" dirty="0"/>
          </a:p>
        </p:txBody>
      </p:sp>
      <p:sp>
        <p:nvSpPr>
          <p:cNvPr id="20" name="Shape 18"/>
          <p:cNvSpPr/>
          <p:nvPr/>
        </p:nvSpPr>
        <p:spPr>
          <a:xfrm>
            <a:off x="2491740" y="4489704"/>
            <a:ext cx="914" cy="123444"/>
          </a:xfrm>
          <a:prstGeom prst="line">
            <a:avLst/>
          </a:prstGeom>
          <a:noFill/>
          <a:ln w="22225">
            <a:solidFill>
              <a:srgbClr val="34363C"/>
            </a:solidFill>
            <a:prstDash val="solid"/>
            <a:tailEnd type="triangle"/>
          </a:ln>
        </p:spPr>
      </p:sp>
      <p:sp>
        <p:nvSpPr>
          <p:cNvPr id="21" name="Shape 19"/>
          <p:cNvSpPr/>
          <p:nvPr/>
        </p:nvSpPr>
        <p:spPr>
          <a:xfrm>
            <a:off x="457200" y="4613148"/>
            <a:ext cx="4069080" cy="484632"/>
          </a:xfrm>
          <a:prstGeom prst="roundRect">
            <a:avLst>
              <a:gd name="adj" fmla="val 15094"/>
            </a:avLst>
          </a:prstGeom>
          <a:solidFill>
            <a:srgbClr val="F3F3F5"/>
          </a:solidFill>
          <a:ln w="13970">
            <a:solidFill>
              <a:srgbClr val="34363C"/>
            </a:solidFill>
            <a:prstDash val="solid"/>
          </a:ln>
        </p:spPr>
      </p:sp>
      <p:sp>
        <p:nvSpPr>
          <p:cNvPr id="22" name="Text 20"/>
          <p:cNvSpPr txBox="1"/>
          <p:nvPr/>
        </p:nvSpPr>
        <p:spPr>
          <a:xfrm>
            <a:off x="457200" y="4613148"/>
            <a:ext cx="406908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Engineer</a:t>
            </a:r>
            <a:endParaRPr lang="en-US" sz="1250" dirty="0"/>
          </a:p>
        </p:txBody>
      </p:sp>
      <p:sp>
        <p:nvSpPr>
          <p:cNvPr id="23" name="Shape 21"/>
          <p:cNvSpPr/>
          <p:nvPr/>
        </p:nvSpPr>
        <p:spPr>
          <a:xfrm>
            <a:off x="4754880" y="3310128"/>
            <a:ext cx="1417320" cy="658368"/>
          </a:xfrm>
          <a:prstGeom prst="roundRect">
            <a:avLst>
              <a:gd name="adj" fmla="val 11111"/>
            </a:avLst>
          </a:prstGeom>
          <a:solidFill>
            <a:srgbClr val="F5A623"/>
          </a:solidFill>
          <a:ln/>
        </p:spPr>
      </p:sp>
      <p:sp>
        <p:nvSpPr>
          <p:cNvPr id="24" name="Text 22"/>
          <p:cNvSpPr txBox="1"/>
          <p:nvPr/>
        </p:nvSpPr>
        <p:spPr>
          <a:xfrm>
            <a:off x="4809744" y="3310128"/>
            <a:ext cx="1307592" cy="658368"/>
          </a:xfrm>
          <a:prstGeom prst="rect">
            <a:avLst/>
          </a:prstGeom>
          <a:noFill/>
          <a:ln/>
        </p:spPr>
        <p:txBody>
          <a:bodyPr wrap="square" lIns="0" tIns="0" rIns="0" bIns="0" rtlCol="0" anchor="ctr"/>
          <a:lstStyle/>
          <a:p>
            <a:pPr marL="0" indent="0" algn="ctr">
              <a:lnSpc>
                <a:spcPts val="1000"/>
              </a:lnSpc>
              <a:buNone/>
            </a:pPr>
            <a:r>
              <a:rPr lang="en-US" sz="850" b="1" dirty="0">
                <a:solidFill>
                  <a:srgbClr val="141416"/>
                </a:solidFill>
                <a:latin typeface="Calibri" pitchFamily="34" charset="0"/>
                <a:ea typeface="Calibri" pitchFamily="34" charset="-122"/>
                <a:cs typeface="Calibri" pitchFamily="34" charset="-120"/>
              </a:rPr>
              <a:t>Kubernetes API (for fixing issues)</a:t>
            </a:r>
            <a:endParaRPr lang="en-US" sz="850" dirty="0"/>
          </a:p>
        </p:txBody>
      </p:sp>
      <p:sp>
        <p:nvSpPr>
          <p:cNvPr id="25" name="Shape 23"/>
          <p:cNvSpPr/>
          <p:nvPr/>
        </p:nvSpPr>
        <p:spPr>
          <a:xfrm>
            <a:off x="4526280" y="3639312"/>
            <a:ext cx="228600" cy="914"/>
          </a:xfrm>
          <a:prstGeom prst="line">
            <a:avLst/>
          </a:prstGeom>
          <a:noFill/>
          <a:ln w="22225">
            <a:solidFill>
              <a:srgbClr val="F5A623"/>
            </a:solidFill>
            <a:prstDash val="solid"/>
            <a:tailEnd type="triangle"/>
          </a:ln>
        </p:spPr>
      </p:sp>
      <p:sp>
        <p:nvSpPr>
          <p:cNvPr id="26" name="Text 24"/>
          <p:cNvSpPr txBox="1"/>
          <p:nvPr/>
        </p:nvSpPr>
        <p:spPr>
          <a:xfrm>
            <a:off x="457200" y="5225796"/>
            <a:ext cx="5394960" cy="457200"/>
          </a:xfrm>
          <a:prstGeom prst="rect">
            <a:avLst/>
          </a:prstGeom>
          <a:noFill/>
          <a:ln/>
        </p:spPr>
        <p:txBody>
          <a:bodyPr wrap="square" rtlCol="0" anchor="ctr"/>
          <a:lstStyle/>
          <a:p>
            <a:pPr marL="0" indent="0" algn="ctr">
              <a:lnSpc>
                <a:spcPts val="1200"/>
              </a:lnSpc>
              <a:buNone/>
            </a:pPr>
            <a:r>
              <a:rPr lang="en-US" sz="950" i="1" dirty="0">
                <a:solidFill>
                  <a:srgbClr val="6B6F76"/>
                </a:solidFill>
                <a:latin typeface="Calibri" pitchFamily="34" charset="0"/>
                <a:ea typeface="Calibri" pitchFamily="34" charset="-122"/>
                <a:cs typeface="Calibri" pitchFamily="34" charset="-120"/>
              </a:rPr>
              <a:t>Monitoring and logs feed the Incident Manager, which notifies engineers and can call Kubernetes directly to remediate.</a:t>
            </a:r>
            <a:endParaRPr lang="en-US" sz="950" dirty="0"/>
          </a:p>
        </p:txBody>
      </p:sp>
      <p:sp>
        <p:nvSpPr>
          <p:cNvPr id="27" name="Text 25"/>
          <p:cNvSpPr txBox="1"/>
          <p:nvPr/>
        </p:nvSpPr>
        <p:spPr>
          <a:xfrm>
            <a:off x="6355080" y="932688"/>
            <a:ext cx="5394960" cy="292608"/>
          </a:xfrm>
          <a:prstGeom prst="rect">
            <a:avLst/>
          </a:prstGeom>
          <a:noFill/>
          <a:ln/>
        </p:spPr>
        <p:txBody>
          <a:bodyPr wrap="square" rtlCol="0" anchor="ctr"/>
          <a:lstStyle/>
          <a:p>
            <a:pPr marL="0" indent="0">
              <a:buNone/>
            </a:pPr>
            <a:r>
              <a:rPr lang="en-US" sz="1350" b="1" dirty="0">
                <a:solidFill>
                  <a:srgbClr val="1E1F24"/>
                </a:solidFill>
                <a:latin typeface="Calibri" pitchFamily="34" charset="0"/>
                <a:ea typeface="Calibri" pitchFamily="34" charset="-122"/>
                <a:cs typeface="Calibri" pitchFamily="34" charset="-120"/>
              </a:rPr>
              <a:t>2. Incident Flow</a:t>
            </a:r>
            <a:endParaRPr lang="en-US" sz="1350" dirty="0"/>
          </a:p>
        </p:txBody>
      </p:sp>
      <p:sp>
        <p:nvSpPr>
          <p:cNvPr id="28" name="Text 26"/>
          <p:cNvSpPr txBox="1"/>
          <p:nvPr/>
        </p:nvSpPr>
        <p:spPr>
          <a:xfrm>
            <a:off x="6355080" y="1207008"/>
            <a:ext cx="5394960" cy="256032"/>
          </a:xfrm>
          <a:prstGeom prst="rect">
            <a:avLst/>
          </a:prstGeom>
          <a:noFill/>
          <a:ln/>
        </p:spPr>
        <p:txBody>
          <a:bodyPr wrap="square" rtlCol="0" anchor="ctr"/>
          <a:lstStyle/>
          <a:p>
            <a:pPr marL="0" indent="0">
              <a:buNone/>
            </a:pPr>
            <a:r>
              <a:rPr lang="en-US" sz="1000" i="1" dirty="0">
                <a:solidFill>
                  <a:srgbClr val="6B6F76"/>
                </a:solidFill>
                <a:latin typeface="Calibri" pitchFamily="34" charset="0"/>
                <a:ea typeface="Calibri" pitchFamily="34" charset="-122"/>
                <a:cs typeface="Calibri" pitchFamily="34" charset="-120"/>
              </a:rPr>
              <a:t>The lifecycle of a single incident, start to close.</a:t>
            </a:r>
            <a:endParaRPr lang="en-US" sz="1000" dirty="0"/>
          </a:p>
        </p:txBody>
      </p:sp>
      <p:sp>
        <p:nvSpPr>
          <p:cNvPr id="29" name="Shape 27"/>
          <p:cNvSpPr/>
          <p:nvPr/>
        </p:nvSpPr>
        <p:spPr>
          <a:xfrm>
            <a:off x="6355080" y="1572768"/>
            <a:ext cx="5394960" cy="484632"/>
          </a:xfrm>
          <a:prstGeom prst="roundRect">
            <a:avLst>
              <a:gd name="adj" fmla="val 15094"/>
            </a:avLst>
          </a:prstGeom>
          <a:solidFill>
            <a:srgbClr val="F3F3F5"/>
          </a:solidFill>
          <a:ln w="13970">
            <a:solidFill>
              <a:srgbClr val="34363C"/>
            </a:solidFill>
            <a:prstDash val="solid"/>
          </a:ln>
        </p:spPr>
      </p:sp>
      <p:sp>
        <p:nvSpPr>
          <p:cNvPr id="30" name="Text 28"/>
          <p:cNvSpPr txBox="1"/>
          <p:nvPr/>
        </p:nvSpPr>
        <p:spPr>
          <a:xfrm>
            <a:off x="6355080" y="1572768"/>
            <a:ext cx="539496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1. Observe</a:t>
            </a:r>
            <a:endParaRPr lang="en-US" sz="1250" dirty="0"/>
          </a:p>
        </p:txBody>
      </p:sp>
      <p:sp>
        <p:nvSpPr>
          <p:cNvPr id="31" name="Shape 29"/>
          <p:cNvSpPr/>
          <p:nvPr/>
        </p:nvSpPr>
        <p:spPr>
          <a:xfrm>
            <a:off x="9052560" y="2057400"/>
            <a:ext cx="914" cy="123444"/>
          </a:xfrm>
          <a:prstGeom prst="line">
            <a:avLst/>
          </a:prstGeom>
          <a:noFill/>
          <a:ln w="22225">
            <a:solidFill>
              <a:srgbClr val="34363C"/>
            </a:solidFill>
            <a:prstDash val="solid"/>
            <a:tailEnd type="triangle"/>
          </a:ln>
        </p:spPr>
      </p:sp>
      <p:sp>
        <p:nvSpPr>
          <p:cNvPr id="32" name="Shape 30"/>
          <p:cNvSpPr/>
          <p:nvPr/>
        </p:nvSpPr>
        <p:spPr>
          <a:xfrm>
            <a:off x="6355080" y="2180844"/>
            <a:ext cx="5394960" cy="484632"/>
          </a:xfrm>
          <a:prstGeom prst="roundRect">
            <a:avLst>
              <a:gd name="adj" fmla="val 15094"/>
            </a:avLst>
          </a:prstGeom>
          <a:solidFill>
            <a:srgbClr val="F3F3F5"/>
          </a:solidFill>
          <a:ln w="13970">
            <a:solidFill>
              <a:srgbClr val="34363C"/>
            </a:solidFill>
            <a:prstDash val="solid"/>
          </a:ln>
        </p:spPr>
      </p:sp>
      <p:sp>
        <p:nvSpPr>
          <p:cNvPr id="33" name="Text 31"/>
          <p:cNvSpPr txBox="1"/>
          <p:nvPr/>
        </p:nvSpPr>
        <p:spPr>
          <a:xfrm>
            <a:off x="6355080" y="2180844"/>
            <a:ext cx="539496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2. Alert</a:t>
            </a:r>
            <a:endParaRPr lang="en-US" sz="1250" dirty="0"/>
          </a:p>
        </p:txBody>
      </p:sp>
      <p:sp>
        <p:nvSpPr>
          <p:cNvPr id="34" name="Shape 32"/>
          <p:cNvSpPr/>
          <p:nvPr/>
        </p:nvSpPr>
        <p:spPr>
          <a:xfrm>
            <a:off x="9052560" y="2665476"/>
            <a:ext cx="914" cy="123444"/>
          </a:xfrm>
          <a:prstGeom prst="line">
            <a:avLst/>
          </a:prstGeom>
          <a:noFill/>
          <a:ln w="22225">
            <a:solidFill>
              <a:srgbClr val="34363C"/>
            </a:solidFill>
            <a:prstDash val="solid"/>
            <a:tailEnd type="triangle"/>
          </a:ln>
        </p:spPr>
      </p:sp>
      <p:sp>
        <p:nvSpPr>
          <p:cNvPr id="35" name="Shape 33"/>
          <p:cNvSpPr/>
          <p:nvPr/>
        </p:nvSpPr>
        <p:spPr>
          <a:xfrm>
            <a:off x="6355080" y="2788920"/>
            <a:ext cx="5394960" cy="484632"/>
          </a:xfrm>
          <a:prstGeom prst="roundRect">
            <a:avLst>
              <a:gd name="adj" fmla="val 15094"/>
            </a:avLst>
          </a:prstGeom>
          <a:solidFill>
            <a:srgbClr val="F3F3F5"/>
          </a:solidFill>
          <a:ln w="13970">
            <a:solidFill>
              <a:srgbClr val="34363C"/>
            </a:solidFill>
            <a:prstDash val="solid"/>
          </a:ln>
        </p:spPr>
      </p:sp>
      <p:sp>
        <p:nvSpPr>
          <p:cNvPr id="36" name="Text 34"/>
          <p:cNvSpPr txBox="1"/>
          <p:nvPr/>
        </p:nvSpPr>
        <p:spPr>
          <a:xfrm>
            <a:off x="6355080" y="2788920"/>
            <a:ext cx="539496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3. Correlate</a:t>
            </a:r>
            <a:endParaRPr lang="en-US" sz="1250" dirty="0"/>
          </a:p>
        </p:txBody>
      </p:sp>
      <p:sp>
        <p:nvSpPr>
          <p:cNvPr id="37" name="Shape 35"/>
          <p:cNvSpPr/>
          <p:nvPr/>
        </p:nvSpPr>
        <p:spPr>
          <a:xfrm>
            <a:off x="9052560" y="3273552"/>
            <a:ext cx="914" cy="123444"/>
          </a:xfrm>
          <a:prstGeom prst="line">
            <a:avLst/>
          </a:prstGeom>
          <a:noFill/>
          <a:ln w="22225">
            <a:solidFill>
              <a:srgbClr val="34363C"/>
            </a:solidFill>
            <a:prstDash val="solid"/>
            <a:tailEnd type="triangle"/>
          </a:ln>
        </p:spPr>
      </p:sp>
      <p:sp>
        <p:nvSpPr>
          <p:cNvPr id="38" name="Shape 36"/>
          <p:cNvSpPr/>
          <p:nvPr/>
        </p:nvSpPr>
        <p:spPr>
          <a:xfrm>
            <a:off x="6355080" y="3396996"/>
            <a:ext cx="5394960" cy="484632"/>
          </a:xfrm>
          <a:prstGeom prst="roundRect">
            <a:avLst>
              <a:gd name="adj" fmla="val 15094"/>
            </a:avLst>
          </a:prstGeom>
          <a:solidFill>
            <a:srgbClr val="F3F3F5"/>
          </a:solidFill>
          <a:ln w="13970">
            <a:solidFill>
              <a:srgbClr val="34363C"/>
            </a:solidFill>
            <a:prstDash val="solid"/>
          </a:ln>
        </p:spPr>
      </p:sp>
      <p:sp>
        <p:nvSpPr>
          <p:cNvPr id="39" name="Text 37"/>
          <p:cNvSpPr txBox="1"/>
          <p:nvPr/>
        </p:nvSpPr>
        <p:spPr>
          <a:xfrm>
            <a:off x="6355080" y="3396996"/>
            <a:ext cx="539496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4. Create Incident</a:t>
            </a:r>
            <a:endParaRPr lang="en-US" sz="1250" dirty="0"/>
          </a:p>
        </p:txBody>
      </p:sp>
      <p:sp>
        <p:nvSpPr>
          <p:cNvPr id="40" name="Shape 38"/>
          <p:cNvSpPr/>
          <p:nvPr/>
        </p:nvSpPr>
        <p:spPr>
          <a:xfrm>
            <a:off x="9052560" y="3881628"/>
            <a:ext cx="914" cy="123444"/>
          </a:xfrm>
          <a:prstGeom prst="line">
            <a:avLst/>
          </a:prstGeom>
          <a:noFill/>
          <a:ln w="22225">
            <a:solidFill>
              <a:srgbClr val="34363C"/>
            </a:solidFill>
            <a:prstDash val="solid"/>
            <a:tailEnd type="triangle"/>
          </a:ln>
        </p:spPr>
      </p:sp>
      <p:sp>
        <p:nvSpPr>
          <p:cNvPr id="41" name="Shape 39"/>
          <p:cNvSpPr/>
          <p:nvPr/>
        </p:nvSpPr>
        <p:spPr>
          <a:xfrm>
            <a:off x="6355080" y="4005072"/>
            <a:ext cx="5394960" cy="484632"/>
          </a:xfrm>
          <a:prstGeom prst="roundRect">
            <a:avLst>
              <a:gd name="adj" fmla="val 15094"/>
            </a:avLst>
          </a:prstGeom>
          <a:solidFill>
            <a:srgbClr val="F3F3F5"/>
          </a:solidFill>
          <a:ln w="13970">
            <a:solidFill>
              <a:srgbClr val="34363C"/>
            </a:solidFill>
            <a:prstDash val="solid"/>
          </a:ln>
        </p:spPr>
      </p:sp>
      <p:sp>
        <p:nvSpPr>
          <p:cNvPr id="42" name="Text 40"/>
          <p:cNvSpPr txBox="1"/>
          <p:nvPr/>
        </p:nvSpPr>
        <p:spPr>
          <a:xfrm>
            <a:off x="6355080" y="4005072"/>
            <a:ext cx="539496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5. Assign</a:t>
            </a:r>
            <a:endParaRPr lang="en-US" sz="1250" dirty="0"/>
          </a:p>
        </p:txBody>
      </p:sp>
      <p:sp>
        <p:nvSpPr>
          <p:cNvPr id="43" name="Shape 41"/>
          <p:cNvSpPr/>
          <p:nvPr/>
        </p:nvSpPr>
        <p:spPr>
          <a:xfrm>
            <a:off x="9052560" y="4489704"/>
            <a:ext cx="914" cy="123444"/>
          </a:xfrm>
          <a:prstGeom prst="line">
            <a:avLst/>
          </a:prstGeom>
          <a:noFill/>
          <a:ln w="22225">
            <a:solidFill>
              <a:srgbClr val="34363C"/>
            </a:solidFill>
            <a:prstDash val="solid"/>
            <a:tailEnd type="triangle"/>
          </a:ln>
        </p:spPr>
      </p:sp>
      <p:sp>
        <p:nvSpPr>
          <p:cNvPr id="44" name="Shape 42"/>
          <p:cNvSpPr/>
          <p:nvPr/>
        </p:nvSpPr>
        <p:spPr>
          <a:xfrm>
            <a:off x="6355080" y="4613148"/>
            <a:ext cx="5394960" cy="484632"/>
          </a:xfrm>
          <a:prstGeom prst="roundRect">
            <a:avLst>
              <a:gd name="adj" fmla="val 15094"/>
            </a:avLst>
          </a:prstGeom>
          <a:solidFill>
            <a:srgbClr val="F5A623"/>
          </a:solidFill>
          <a:ln w="13970">
            <a:solidFill>
              <a:srgbClr val="F5A623"/>
            </a:solidFill>
            <a:prstDash val="solid"/>
          </a:ln>
        </p:spPr>
      </p:sp>
      <p:sp>
        <p:nvSpPr>
          <p:cNvPr id="45" name="Text 43"/>
          <p:cNvSpPr txBox="1"/>
          <p:nvPr/>
        </p:nvSpPr>
        <p:spPr>
          <a:xfrm>
            <a:off x="6355080" y="4613148"/>
            <a:ext cx="5394960" cy="484632"/>
          </a:xfrm>
          <a:prstGeom prst="rect">
            <a:avLst/>
          </a:prstGeom>
          <a:noFill/>
          <a:ln/>
        </p:spPr>
        <p:txBody>
          <a:bodyPr wrap="square" lIns="0" tIns="0" rIns="0" bIns="0" rtlCol="0" anchor="ctr"/>
          <a:lstStyle/>
          <a:p>
            <a:pPr marL="0" indent="0" algn="ctr">
              <a:buNone/>
            </a:pPr>
            <a:r>
              <a:rPr lang="en-US" sz="1250" b="1" dirty="0">
                <a:solidFill>
                  <a:srgbClr val="141416"/>
                </a:solidFill>
                <a:latin typeface="Calibri" pitchFamily="34" charset="0"/>
                <a:ea typeface="Calibri" pitchFamily="34" charset="-122"/>
                <a:cs typeface="Calibri" pitchFamily="34" charset="-120"/>
              </a:rPr>
              <a:t>6. Fix</a:t>
            </a:r>
            <a:endParaRPr lang="en-US" sz="1250" dirty="0"/>
          </a:p>
        </p:txBody>
      </p:sp>
      <p:sp>
        <p:nvSpPr>
          <p:cNvPr id="46" name="Shape 44"/>
          <p:cNvSpPr/>
          <p:nvPr/>
        </p:nvSpPr>
        <p:spPr>
          <a:xfrm>
            <a:off x="9052560" y="5097780"/>
            <a:ext cx="914" cy="123444"/>
          </a:xfrm>
          <a:prstGeom prst="line">
            <a:avLst/>
          </a:prstGeom>
          <a:noFill/>
          <a:ln w="22225">
            <a:solidFill>
              <a:srgbClr val="F5A623"/>
            </a:solidFill>
            <a:prstDash val="solid"/>
            <a:tailEnd type="triangle"/>
          </a:ln>
        </p:spPr>
      </p:sp>
      <p:sp>
        <p:nvSpPr>
          <p:cNvPr id="47" name="Shape 45"/>
          <p:cNvSpPr/>
          <p:nvPr/>
        </p:nvSpPr>
        <p:spPr>
          <a:xfrm>
            <a:off x="6355080" y="5221224"/>
            <a:ext cx="5394960" cy="484632"/>
          </a:xfrm>
          <a:prstGeom prst="roundRect">
            <a:avLst>
              <a:gd name="adj" fmla="val 15094"/>
            </a:avLst>
          </a:prstGeom>
          <a:solidFill>
            <a:srgbClr val="F3F3F5"/>
          </a:solidFill>
          <a:ln w="13970">
            <a:solidFill>
              <a:srgbClr val="34363C"/>
            </a:solidFill>
            <a:prstDash val="solid"/>
          </a:ln>
        </p:spPr>
      </p:sp>
      <p:sp>
        <p:nvSpPr>
          <p:cNvPr id="48" name="Text 46"/>
          <p:cNvSpPr txBox="1"/>
          <p:nvPr/>
        </p:nvSpPr>
        <p:spPr>
          <a:xfrm>
            <a:off x="6355080" y="5221224"/>
            <a:ext cx="5394960" cy="484632"/>
          </a:xfrm>
          <a:prstGeom prst="rect">
            <a:avLst/>
          </a:prstGeom>
          <a:noFill/>
          <a:ln/>
        </p:spPr>
        <p:txBody>
          <a:bodyPr wrap="square" lIns="0" tIns="0" rIns="0" bIns="0" rtlCol="0" anchor="ctr"/>
          <a:lstStyle/>
          <a:p>
            <a:pPr marL="0" indent="0" algn="ctr">
              <a:buNone/>
            </a:pPr>
            <a:r>
              <a:rPr lang="en-US" sz="1250" b="1" dirty="0">
                <a:solidFill>
                  <a:srgbClr val="1E1F24"/>
                </a:solidFill>
                <a:latin typeface="Calibri" pitchFamily="34" charset="0"/>
                <a:ea typeface="Calibri" pitchFamily="34" charset="-122"/>
                <a:cs typeface="Calibri" pitchFamily="34" charset="-120"/>
              </a:rPr>
              <a:t>7. Resolve</a:t>
            </a:r>
            <a:endParaRPr lang="en-US" sz="1250" dirty="0"/>
          </a:p>
        </p:txBody>
      </p:sp>
      <p:sp>
        <p:nvSpPr>
          <p:cNvPr id="49" name="Shape 47"/>
          <p:cNvSpPr/>
          <p:nvPr/>
        </p:nvSpPr>
        <p:spPr>
          <a:xfrm>
            <a:off x="6355080" y="5833872"/>
            <a:ext cx="5394960" cy="420624"/>
          </a:xfrm>
          <a:prstGeom prst="roundRect">
            <a:avLst>
              <a:gd name="adj" fmla="val 17391"/>
            </a:avLst>
          </a:prstGeom>
          <a:solidFill>
            <a:srgbClr val="141416"/>
          </a:solidFill>
          <a:ln/>
        </p:spPr>
      </p:sp>
      <p:sp>
        <p:nvSpPr>
          <p:cNvPr id="50" name="Text 48"/>
          <p:cNvSpPr txBox="1"/>
          <p:nvPr/>
        </p:nvSpPr>
        <p:spPr>
          <a:xfrm>
            <a:off x="6464808" y="5833872"/>
            <a:ext cx="5175504" cy="420624"/>
          </a:xfrm>
          <a:prstGeom prst="rect">
            <a:avLst/>
          </a:prstGeom>
          <a:noFill/>
          <a:ln/>
        </p:spPr>
        <p:txBody>
          <a:bodyPr wrap="square" lIns="0" tIns="0" rIns="0" bIns="0" rtlCol="0" anchor="ctr"/>
          <a:lstStyle/>
          <a:p>
            <a:pPr marL="0" indent="0">
              <a:buNone/>
            </a:pPr>
            <a:r>
              <a:rPr lang="en-US" sz="1050" b="1" dirty="0">
                <a:solidFill>
                  <a:srgbClr val="F5A623"/>
                </a:solidFill>
                <a:latin typeface="Calibri" pitchFamily="34" charset="0"/>
                <a:ea typeface="Calibri" pitchFamily="34" charset="-122"/>
                <a:cs typeface="Calibri" pitchFamily="34" charset="-120"/>
              </a:rPr>
              <a:t>Note: </a:t>
            </a:r>
            <a:r>
              <a:rPr lang="en-US" sz="1050" dirty="0">
                <a:solidFill>
                  <a:srgbClr val="FFFFFF"/>
                </a:solidFill>
                <a:latin typeface="Calibri" pitchFamily="34" charset="0"/>
                <a:ea typeface="Calibri" pitchFamily="34" charset="-122"/>
                <a:cs typeface="Calibri" pitchFamily="34" charset="-120"/>
              </a:rPr>
              <a:t>Auto-remediation happens in between if enabled.</a:t>
            </a:r>
            <a:endParaRPr lang="en-US" sz="1050" dirty="0"/>
          </a:p>
        </p:txBody>
      </p:sp>
      <p:sp>
        <p:nvSpPr>
          <p:cNvPr id="51" name="Text 49"/>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AFB1B8"/>
                </a:solidFill>
                <a:latin typeface="Calibri" pitchFamily="34" charset="0"/>
                <a:ea typeface="Calibri" pitchFamily="34" charset="-122"/>
                <a:cs typeface="Calibri" pitchFamily="34" charset="-120"/>
              </a:rPr>
              <a:t>7</a:t>
            </a:r>
            <a:endParaRPr lang="en-US" sz="1000" dirty="0"/>
          </a:p>
        </p:txBody>
      </p:sp>
      <p:sp>
        <p:nvSpPr>
          <p:cNvPr id="52" name="Text 50"/>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C7C9CE"/>
                </a:solidFill>
                <a:latin typeface="Calibri" pitchFamily="34" charset="0"/>
                <a:ea typeface="Calibri" pitchFamily="34" charset="-122"/>
                <a:cs typeface="Calibri" pitchFamily="34" charset="-120"/>
              </a:rPr>
              <a:t>DevOps Incident Management System</a:t>
            </a:r>
            <a:endParaRPr lang="en-US" sz="900" dirty="0"/>
          </a:p>
        </p:txBody>
      </p:sp>
      <p:pic>
        <p:nvPicPr>
          <p:cNvPr id="54" name="Picture 53">
            <a:extLst>
              <a:ext uri="{FF2B5EF4-FFF2-40B4-BE49-F238E27FC236}">
                <a16:creationId xmlns:a16="http://schemas.microsoft.com/office/drawing/2014/main" xmlns="" id="{647BD809-005A-0FBB-9D17-AC8B5ED121FD}"/>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1243</Words>
  <Application>Microsoft Office PowerPoint</Application>
  <PresentationFormat>Widescreen</PresentationFormat>
  <Paragraphs>165</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Cambria</vt:lpstr>
      <vt:lpstr>Poppins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9</cp:revision>
  <dcterms:created xsi:type="dcterms:W3CDTF">2026-09-12T03:43:29Z</dcterms:created>
  <dcterms:modified xsi:type="dcterms:W3CDTF">2026-10-01T08:49:08Z</dcterms:modified>
</cp:coreProperties>
</file>